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26.xml.rels" ContentType="application/vnd.openxmlformats-package.relationships+xml"/>
  <Override PartName="/ppt/slides/_rels/slide13.xml.rels" ContentType="application/vnd.openxmlformats-package.relationships+xml"/>
  <Override PartName="/ppt/slides/_rels/slide25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31E676-9024-4CA8-A6BC-95C52991128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C3C5DE-4545-4191-8CDB-DCAC3867F85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513DF34-640B-4E1B-9BD2-A086E0340EDC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/>
          <p:nvPr/>
        </p:nvSpPr>
        <p:spPr>
          <a:xfrm>
            <a:off x="0" y="0"/>
            <a:ext cx="11988000" cy="6732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0" y="0"/>
            <a:ext cx="151200" cy="6732000"/>
          </a:xfrm>
          <a:prstGeom prst="rect">
            <a:avLst/>
          </a:prstGeom>
          <a:solidFill>
            <a:srgbClr val="0c2a3f"/>
          </a:solidFill>
          <a:ln w="0">
            <a:solidFill>
              <a:srgbClr val="0c2a3f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>
            <a:off x="378000" y="216000"/>
            <a:ext cx="11088000" cy="324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700" spc="-1" strike="noStrike">
                <a:solidFill>
                  <a:srgbClr val="f8fafc"/>
                </a:solidFill>
                <a:latin typeface="Aptos"/>
              </a:rPr>
              <a:t>Materials Adversarial Forensic Review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>
            <a:off x="388800" y="554400"/>
            <a:ext cx="8208000" cy="216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400" spc="-1" strike="noStrike">
                <a:solidFill>
                  <a:srgbClr val="9cb4c8"/>
                </a:solidFill>
                <a:latin typeface="Aptos"/>
              </a:rPr>
              <a:t>A clean research deck built from the actual repository evidence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378000" y="835200"/>
            <a:ext cx="1548000" cy="216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txBody>
          <a:bodyPr lIns="90000" rIns="90000" tIns="-23400" bIns="-234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1962000" y="835200"/>
            <a:ext cx="9504000" cy="6480"/>
          </a:xfrm>
          <a:prstGeom prst="rect">
            <a:avLst/>
          </a:prstGeom>
          <a:solidFill>
            <a:srgbClr val="31506a"/>
          </a:solidFill>
          <a:ln w="0">
            <a:solidFill>
              <a:srgbClr val="31506a"/>
            </a:solidFill>
          </a:ln>
        </p:spPr>
        <p:txBody>
          <a:bodyPr lIns="90000" rIns="90000" tIns="-38520" bIns="-385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10512000" y="6278400"/>
            <a:ext cx="900000" cy="1512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61200" bIns="43200" anchor="t" anchorCtr="1">
            <a:noAutofit/>
          </a:bodyPr>
          <a:p>
            <a:pPr algn="just"/>
            <a:r>
              <a:rPr b="1" lang="en-US" sz="1100" spc="-1" strike="noStrike">
                <a:solidFill>
                  <a:srgbClr val="9cb4c8"/>
                </a:solidFill>
                <a:latin typeface="Aptos"/>
              </a:rPr>
              <a:t>02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378000" y="6278400"/>
            <a:ext cx="4248000" cy="1512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61200" bIns="43200" anchor="t" anchorCtr="1">
            <a:noAutofit/>
          </a:bodyPr>
          <a:p>
            <a:r>
              <a:rPr b="0" lang="en-US" sz="1000" spc="-1" strike="noStrike">
                <a:solidFill>
                  <a:srgbClr val="6f879a"/>
                </a:solidFill>
                <a:latin typeface="Aptos"/>
              </a:rPr>
              <a:t>Materials adversarial learning forensic review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522000" y="1548000"/>
            <a:ext cx="7056000" cy="1116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4200" spc="-1" strike="noStrike">
                <a:solidFill>
                  <a:srgbClr val="f8fafc"/>
                </a:solidFill>
                <a:latin typeface="Aptos"/>
              </a:rPr>
              <a:t>The audit changes the story.</a:t>
            </a:r>
            <a:endParaRPr b="0" lang="en-US" sz="4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540000" y="2718000"/>
            <a:ext cx="6048000" cy="1080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2400" spc="-1" strike="noStrike">
                <a:solidFill>
                  <a:srgbClr val="9cb4c8"/>
                </a:solidFill>
                <a:latin typeface="Aptos"/>
              </a:rPr>
              <a:t>The model is genuinely unstable under token-level perturbations, but the original length-change explanation does not survive forensic testing.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7272000" y="1800000"/>
            <a:ext cx="1692000" cy="972000"/>
          </a:xfrm>
          <a:prstGeom prst="rect">
            <a:avLst/>
          </a:prstGeom>
          <a:solidFill>
            <a:srgbClr val="10263a"/>
          </a:solidFill>
          <a:ln w="0">
            <a:solidFill>
              <a:srgbClr val="31506a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7272000" y="1800000"/>
            <a:ext cx="64800" cy="972000"/>
          </a:xfrm>
          <a:prstGeom prst="rect">
            <a:avLst/>
          </a:prstGeom>
          <a:solidFill>
            <a:srgbClr val="38bdf8"/>
          </a:solidFill>
          <a:ln w="0">
            <a:solidFill>
              <a:srgbClr val="38bdf8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7459200" y="1929600"/>
            <a:ext cx="1368000" cy="273600"/>
          </a:xfrm>
          <a:prstGeom prst="rect">
            <a:avLst/>
          </a:prstGeom>
          <a:solidFill>
            <a:srgbClr val="10263a"/>
          </a:solidFill>
          <a:ln w="0">
            <a:solidFill>
              <a:srgbClr val="10263a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700" spc="-1" strike="noStrike">
                <a:solidFill>
                  <a:srgbClr val="f8fafc"/>
                </a:solidFill>
                <a:latin typeface="Aptos"/>
              </a:rPr>
              <a:t>247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7466400" y="2253600"/>
            <a:ext cx="1332000" cy="230400"/>
          </a:xfrm>
          <a:prstGeom prst="rect">
            <a:avLst/>
          </a:prstGeom>
          <a:solidFill>
            <a:srgbClr val="10263a"/>
          </a:solidFill>
          <a:ln w="0">
            <a:solidFill>
              <a:srgbClr val="10263a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400" spc="-1" strike="noStrike">
                <a:solidFill>
                  <a:srgbClr val="9cb4c8"/>
                </a:solidFill>
                <a:latin typeface="Aptos"/>
              </a:rPr>
              <a:t>Tg samples after cleaning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9180000" y="1800000"/>
            <a:ext cx="1692000" cy="972000"/>
          </a:xfrm>
          <a:prstGeom prst="rect">
            <a:avLst/>
          </a:prstGeom>
          <a:solidFill>
            <a:srgbClr val="10263a"/>
          </a:solidFill>
          <a:ln w="0">
            <a:solidFill>
              <a:srgbClr val="31506a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9180000" y="1800000"/>
            <a:ext cx="64800" cy="972000"/>
          </a:xfrm>
          <a:prstGeom prst="rect">
            <a:avLst/>
          </a:prstGeom>
          <a:solidFill>
            <a:srgbClr val="ef4444"/>
          </a:solidFill>
          <a:ln w="0">
            <a:solidFill>
              <a:srgbClr val="ef4444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9367200" y="1929600"/>
            <a:ext cx="1368000" cy="273600"/>
          </a:xfrm>
          <a:prstGeom prst="rect">
            <a:avLst/>
          </a:prstGeom>
          <a:solidFill>
            <a:srgbClr val="10263a"/>
          </a:solidFill>
          <a:ln w="0">
            <a:solidFill>
              <a:srgbClr val="10263a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700" spc="-1" strike="noStrike">
                <a:solidFill>
                  <a:srgbClr val="f8fafc"/>
                </a:solidFill>
                <a:latin typeface="Aptos"/>
              </a:rPr>
              <a:t>n=6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9374400" y="2253600"/>
            <a:ext cx="1332000" cy="230400"/>
          </a:xfrm>
          <a:prstGeom prst="rect">
            <a:avLst/>
          </a:prstGeom>
          <a:solidFill>
            <a:srgbClr val="10263a"/>
          </a:solidFill>
          <a:ln w="0">
            <a:solidFill>
              <a:srgbClr val="10263a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400" spc="-1" strike="noStrike">
                <a:solidFill>
                  <a:srgbClr val="9cb4c8"/>
                </a:solidFill>
                <a:latin typeface="Aptos"/>
              </a:rPr>
              <a:t>sealed test split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7272000" y="2970000"/>
            <a:ext cx="1692000" cy="972000"/>
          </a:xfrm>
          <a:prstGeom prst="rect">
            <a:avLst/>
          </a:prstGeom>
          <a:solidFill>
            <a:srgbClr val="10263a"/>
          </a:solidFill>
          <a:ln w="0">
            <a:solidFill>
              <a:srgbClr val="31506a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7272000" y="2970000"/>
            <a:ext cx="64800" cy="9720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7459200" y="3099600"/>
            <a:ext cx="1368000" cy="273600"/>
          </a:xfrm>
          <a:prstGeom prst="rect">
            <a:avLst/>
          </a:prstGeom>
          <a:solidFill>
            <a:srgbClr val="10263a"/>
          </a:solidFill>
          <a:ln w="0">
            <a:solidFill>
              <a:srgbClr val="10263a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700" spc="-1" strike="noStrike">
                <a:solidFill>
                  <a:srgbClr val="f8fafc"/>
                </a:solidFill>
                <a:latin typeface="Aptos"/>
              </a:rPr>
              <a:t>86k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7466400" y="3423600"/>
            <a:ext cx="1332000" cy="230400"/>
          </a:xfrm>
          <a:prstGeom prst="rect">
            <a:avLst/>
          </a:prstGeom>
          <a:solidFill>
            <a:srgbClr val="10263a"/>
          </a:solidFill>
          <a:ln w="0">
            <a:solidFill>
              <a:srgbClr val="10263a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400" spc="-1" strike="noStrike">
                <a:solidFill>
                  <a:srgbClr val="9cb4c8"/>
                </a:solidFill>
                <a:latin typeface="Aptos"/>
              </a:rPr>
              <a:t>Transformer parameters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9180000" y="2970000"/>
            <a:ext cx="1692000" cy="972000"/>
          </a:xfrm>
          <a:prstGeom prst="rect">
            <a:avLst/>
          </a:prstGeom>
          <a:solidFill>
            <a:srgbClr val="10263a"/>
          </a:solidFill>
          <a:ln w="0">
            <a:solidFill>
              <a:srgbClr val="31506a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9180000" y="2970000"/>
            <a:ext cx="64800" cy="972000"/>
          </a:xfrm>
          <a:prstGeom prst="rect">
            <a:avLst/>
          </a:prstGeom>
          <a:solidFill>
            <a:srgbClr val="22c55e"/>
          </a:solidFill>
          <a:ln w="0">
            <a:solidFill>
              <a:srgbClr val="22c55e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9367200" y="3099600"/>
            <a:ext cx="1368000" cy="273600"/>
          </a:xfrm>
          <a:prstGeom prst="rect">
            <a:avLst/>
          </a:prstGeom>
          <a:solidFill>
            <a:srgbClr val="10263a"/>
          </a:solidFill>
          <a:ln w="0">
            <a:solidFill>
              <a:srgbClr val="10263a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700" spc="-1" strike="noStrike">
                <a:solidFill>
                  <a:srgbClr val="f8fafc"/>
                </a:solidFill>
                <a:latin typeface="Aptos"/>
              </a:rPr>
              <a:t>5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9374400" y="3423600"/>
            <a:ext cx="1332000" cy="230400"/>
          </a:xfrm>
          <a:prstGeom prst="rect">
            <a:avLst/>
          </a:prstGeom>
          <a:solidFill>
            <a:srgbClr val="10263a"/>
          </a:solidFill>
          <a:ln w="0">
            <a:solidFill>
              <a:srgbClr val="10263a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400" spc="-1" strike="noStrike">
                <a:solidFill>
                  <a:srgbClr val="9cb4c8"/>
                </a:solidFill>
                <a:latin typeface="Aptos"/>
              </a:rPr>
              <a:t>replication seeds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540000" y="4536000"/>
            <a:ext cx="10296000" cy="432000"/>
          </a:xfrm>
          <a:prstGeom prst="rect">
            <a:avLst/>
          </a:prstGeom>
          <a:solidFill>
            <a:srgbClr val="241b1d"/>
          </a:solidFill>
          <a:ln w="0">
            <a:solidFill>
              <a:srgbClr val="ef4444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1900" spc="-1" strike="noStrike">
                <a:solidFill>
                  <a:srgbClr val="f8fafc"/>
                </a:solidFill>
                <a:latin typeface="Aptos"/>
              </a:rPr>
              <a:t>Claim status: real instability confirmed | length mechanism refuted | chemistry-preserving robustness not yet demonstrated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"/>
          <p:cNvSpPr/>
          <p:nvPr/>
        </p:nvSpPr>
        <p:spPr>
          <a:xfrm>
            <a:off x="0" y="0"/>
            <a:ext cx="11988000" cy="6732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0" y="0"/>
            <a:ext cx="151200" cy="6732000"/>
          </a:xfrm>
          <a:prstGeom prst="rect">
            <a:avLst/>
          </a:prstGeom>
          <a:solidFill>
            <a:srgbClr val="0c2a3f"/>
          </a:solidFill>
          <a:ln w="0">
            <a:solidFill>
              <a:srgbClr val="0c2a3f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378000" y="216000"/>
            <a:ext cx="11088000" cy="324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700" spc="-1" strike="noStrike">
                <a:solidFill>
                  <a:srgbClr val="f8fafc"/>
                </a:solidFill>
                <a:latin typeface="Aptos"/>
              </a:rPr>
              <a:t>01 / Framing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378000" y="835200"/>
            <a:ext cx="1548000" cy="216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txBody>
          <a:bodyPr lIns="90000" rIns="90000" tIns="-23400" bIns="-234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1962000" y="835200"/>
            <a:ext cx="9504000" cy="6480"/>
          </a:xfrm>
          <a:prstGeom prst="rect">
            <a:avLst/>
          </a:prstGeom>
          <a:solidFill>
            <a:srgbClr val="31506a"/>
          </a:solidFill>
          <a:ln w="0">
            <a:solidFill>
              <a:srgbClr val="31506a"/>
            </a:solidFill>
          </a:ln>
        </p:spPr>
        <p:txBody>
          <a:bodyPr lIns="90000" rIns="90000" tIns="-38520" bIns="-385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10512000" y="6278400"/>
            <a:ext cx="900000" cy="1512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61200" bIns="43200" anchor="t" anchorCtr="1">
            <a:noAutofit/>
          </a:bodyPr>
          <a:p>
            <a:pPr algn="just"/>
            <a:r>
              <a:rPr b="1" lang="en-US" sz="1100" spc="-1" strike="noStrike">
                <a:solidFill>
                  <a:srgbClr val="9cb4c8"/>
                </a:solidFill>
                <a:latin typeface="Aptos"/>
              </a:rPr>
              <a:t>03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378000" y="6278400"/>
            <a:ext cx="4248000" cy="1512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61200" bIns="43200" anchor="t" anchorCtr="1">
            <a:noAutofit/>
          </a:bodyPr>
          <a:p>
            <a:r>
              <a:rPr b="0" lang="en-US" sz="1000" spc="-1" strike="noStrike">
                <a:solidFill>
                  <a:srgbClr val="6f879a"/>
                </a:solidFill>
                <a:latin typeface="Aptos"/>
              </a:rPr>
              <a:t>Materials adversarial learning forensic review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648000" y="1908000"/>
            <a:ext cx="10260000" cy="1404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3400" spc="-1" strike="noStrike">
                <a:solidFill>
                  <a:srgbClr val="f8fafc"/>
                </a:solidFill>
                <a:latin typeface="Aptos"/>
              </a:rPr>
              <a:t>What question is this project actually answering?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1620000" y="3528000"/>
            <a:ext cx="8280000" cy="432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0" lang="en-US" sz="1900" spc="-1" strike="noStrike">
                <a:solidFill>
                  <a:srgbClr val="9cb4c8"/>
                </a:solidFill>
                <a:latin typeface="Aptos"/>
              </a:rPr>
              <a:t>Separate real model vulnerability from artifacts introduced by representation, split design, pooling, and attack construction.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2952000" y="4230000"/>
            <a:ext cx="6048000" cy="288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txBody>
          <a:bodyPr lIns="90000" rIns="90000" tIns="-16200" bIns="-162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0"/>
            <a:ext cx="11988000" cy="6732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0" y="0"/>
            <a:ext cx="151200" cy="6732000"/>
          </a:xfrm>
          <a:prstGeom prst="rect">
            <a:avLst/>
          </a:prstGeom>
          <a:solidFill>
            <a:srgbClr val="0c2a3f"/>
          </a:solidFill>
          <a:ln w="0">
            <a:solidFill>
              <a:srgbClr val="0c2a3f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378000" y="216000"/>
            <a:ext cx="11088000" cy="324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700" spc="-1" strike="noStrike">
                <a:solidFill>
                  <a:srgbClr val="f8fafc"/>
                </a:solidFill>
                <a:latin typeface="Aptos"/>
              </a:rPr>
              <a:t>Problem Statement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388800" y="554400"/>
            <a:ext cx="8208000" cy="216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400" spc="-1" strike="noStrike">
                <a:solidFill>
                  <a:srgbClr val="9cb4c8"/>
                </a:solidFill>
                <a:latin typeface="Aptos"/>
              </a:rPr>
              <a:t>What the project is really trying to solve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378000" y="835200"/>
            <a:ext cx="1548000" cy="216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txBody>
          <a:bodyPr lIns="90000" rIns="90000" tIns="-23400" bIns="-234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1962000" y="835200"/>
            <a:ext cx="9504000" cy="6480"/>
          </a:xfrm>
          <a:prstGeom prst="rect">
            <a:avLst/>
          </a:prstGeom>
          <a:solidFill>
            <a:srgbClr val="31506a"/>
          </a:solidFill>
          <a:ln w="0">
            <a:solidFill>
              <a:srgbClr val="31506a"/>
            </a:solidFill>
          </a:ln>
        </p:spPr>
        <p:txBody>
          <a:bodyPr lIns="90000" rIns="90000" tIns="-38520" bIns="-385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10512000" y="6278400"/>
            <a:ext cx="900000" cy="1512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61200" bIns="43200" anchor="t" anchorCtr="1">
            <a:noAutofit/>
          </a:bodyPr>
          <a:p>
            <a:pPr algn="just"/>
            <a:r>
              <a:rPr b="1" lang="en-US" sz="1100" spc="-1" strike="noStrike">
                <a:solidFill>
                  <a:srgbClr val="9cb4c8"/>
                </a:solidFill>
                <a:latin typeface="Aptos"/>
              </a:rPr>
              <a:t>04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378000" y="6278400"/>
            <a:ext cx="4248000" cy="1512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61200" bIns="43200" anchor="t" anchorCtr="1">
            <a:noAutofit/>
          </a:bodyPr>
          <a:p>
            <a:r>
              <a:rPr b="0" lang="en-US" sz="1000" spc="-1" strike="noStrike">
                <a:solidFill>
                  <a:srgbClr val="6f879a"/>
                </a:solidFill>
                <a:latin typeface="Aptos"/>
              </a:rPr>
              <a:t>Materials adversarial learning forensic review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504000" y="1404000"/>
            <a:ext cx="5220000" cy="3240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22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200" spc="-1" strike="noStrike">
                <a:solidFill>
                  <a:srgbClr val="f8fafc"/>
                </a:solidFill>
                <a:latin typeface="Aptos"/>
              </a:rPr>
              <a:t>Can sequence models for polymers stay stable when valid-looking PSMILES strings are perturbed?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2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200" spc="-1" strike="noStrike">
                <a:solidFill>
                  <a:srgbClr val="f8fafc"/>
                </a:solidFill>
                <a:latin typeface="Aptos"/>
              </a:rPr>
              <a:t>Do observed prediction drifts reveal true adversarial vulnerability, or artifacts of representation, split design, pooling, and attack severity?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2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200" spc="-1" strike="noStrike">
                <a:solidFill>
                  <a:srgbClr val="f8fafc"/>
                </a:solidFill>
                <a:latin typeface="Aptos"/>
              </a:rPr>
              <a:t>Can adversarial training improve robustness without damaging clean prediction accuracy?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2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200" spc="-1" strike="noStrike">
                <a:solidFill>
                  <a:srgbClr val="f8fafc"/>
                </a:solidFill>
                <a:latin typeface="Aptos"/>
              </a:rPr>
              <a:t>Which claims are actually supported once the model, data, and attack pipeline are forensically audited?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6336000" y="1512000"/>
            <a:ext cx="4608000" cy="2196000"/>
          </a:xfrm>
          <a:prstGeom prst="rect">
            <a:avLst/>
          </a:prstGeom>
          <a:solidFill>
            <a:srgbClr val="13283a"/>
          </a:solidFill>
          <a:ln w="0">
            <a:solidFill>
              <a:srgbClr val="f59e0b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300" spc="-1" strike="noStrike">
                <a:solidFill>
                  <a:srgbClr val="f8fafc"/>
                </a:solidFill>
                <a:latin typeface="Aptos"/>
              </a:rPr>
              <a:t>Why it matters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  <a:p>
            <a:r>
              <a:rPr b="1" lang="en-US" sz="2300" spc="-1" strike="noStrike">
                <a:solidFill>
                  <a:srgbClr val="f8fafc"/>
                </a:solidFill>
                <a:latin typeface="Aptos"/>
              </a:rPr>
              <a:t>A materials ML system that changes Tg or bandgap predictions after small string edits can look scientifically convincing while responding to syntax, length, or candidate-selection artifacts instead of chemistry.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/>
          <p:nvPr/>
        </p:nvSpPr>
        <p:spPr>
          <a:xfrm>
            <a:off x="0" y="0"/>
            <a:ext cx="11988000" cy="6732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0" y="0"/>
            <a:ext cx="151200" cy="6732000"/>
          </a:xfrm>
          <a:prstGeom prst="rect">
            <a:avLst/>
          </a:prstGeom>
          <a:solidFill>
            <a:srgbClr val="0c2a3f"/>
          </a:solidFill>
          <a:ln w="0">
            <a:solidFill>
              <a:srgbClr val="0c2a3f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378000" y="216000"/>
            <a:ext cx="11088000" cy="324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700" spc="-1" strike="noStrike">
                <a:solidFill>
                  <a:srgbClr val="f8fafc"/>
                </a:solidFill>
                <a:latin typeface="Aptos"/>
              </a:rPr>
              <a:t>Project Scope And Data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388800" y="554400"/>
            <a:ext cx="8208000" cy="216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400" spc="-1" strike="noStrike">
                <a:solidFill>
                  <a:srgbClr val="9cb4c8"/>
                </a:solidFill>
                <a:latin typeface="Aptos"/>
              </a:rPr>
              <a:t>Two related project threads; Tg forensic audit is the current deck focus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378000" y="835200"/>
            <a:ext cx="1548000" cy="216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txBody>
          <a:bodyPr lIns="90000" rIns="90000" tIns="-23400" bIns="-234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1962000" y="835200"/>
            <a:ext cx="9504000" cy="6480"/>
          </a:xfrm>
          <a:prstGeom prst="rect">
            <a:avLst/>
          </a:prstGeom>
          <a:solidFill>
            <a:srgbClr val="31506a"/>
          </a:solidFill>
          <a:ln w="0">
            <a:solidFill>
              <a:srgbClr val="31506a"/>
            </a:solidFill>
          </a:ln>
        </p:spPr>
        <p:txBody>
          <a:bodyPr lIns="90000" rIns="90000" tIns="-38520" bIns="-385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10512000" y="6278400"/>
            <a:ext cx="900000" cy="1512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61200" bIns="43200" anchor="t" anchorCtr="1">
            <a:noAutofit/>
          </a:bodyPr>
          <a:p>
            <a:pPr algn="just"/>
            <a:r>
              <a:rPr b="1" lang="en-US" sz="1100" spc="-1" strike="noStrike">
                <a:solidFill>
                  <a:srgbClr val="9cb4c8"/>
                </a:solidFill>
                <a:latin typeface="Aptos"/>
              </a:rPr>
              <a:t>05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378000" y="6278400"/>
            <a:ext cx="4248000" cy="1512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61200" bIns="43200" anchor="t" anchorCtr="1">
            <a:noAutofit/>
          </a:bodyPr>
          <a:p>
            <a:r>
              <a:rPr b="0" lang="en-US" sz="1000" spc="-1" strike="noStrike">
                <a:solidFill>
                  <a:srgbClr val="6f879a"/>
                </a:solidFill>
                <a:latin typeface="Aptos"/>
              </a:rPr>
              <a:t>Materials adversarial learning forensic review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468000" y="1296000"/>
            <a:ext cx="5220000" cy="3420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20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000" spc="-1" strike="noStrike">
                <a:solidFill>
                  <a:srgbClr val="f8fafc"/>
                </a:solidFill>
                <a:latin typeface="Aptos"/>
              </a:rPr>
              <a:t>Bandgap milestone: 2946/631/632 split, clean test MAE 0.4619 eV, R² 0.802.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0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000" spc="-1" strike="noStrike">
                <a:solidFill>
                  <a:srgbClr val="f8fafc"/>
                </a:solidFill>
                <a:latin typeface="Aptos"/>
              </a:rPr>
              <a:t>Tg forensic audit: final polymer properties table has 741 rows; Tg non-null = 443.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0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000" spc="-1" strike="noStrike">
                <a:solidFill>
                  <a:srgbClr val="f8fafc"/>
                </a:solidFill>
                <a:latin typeface="Aptos"/>
              </a:rPr>
              <a:t>After RDKit canonicalization and conflicting duplicate removal: 247 Tg samples.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0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000" spc="-1" strike="noStrike">
                <a:solidFill>
                  <a:srgbClr val="f8fafc"/>
                </a:solidFill>
                <a:latin typeface="Aptos"/>
              </a:rPr>
              <a:t>Scaffold split: train 204 / validation 37 / sealed test 6.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6336000" y="1620000"/>
            <a:ext cx="4500000" cy="1944000"/>
          </a:xfrm>
          <a:prstGeom prst="rect">
            <a:avLst/>
          </a:prstGeom>
          <a:solidFill>
            <a:srgbClr val="271a1a"/>
          </a:solidFill>
          <a:ln w="0">
            <a:solidFill>
              <a:srgbClr val="ef4444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200" spc="-1" strike="noStrike">
                <a:solidFill>
                  <a:srgbClr val="f8fafc"/>
                </a:solidFill>
                <a:latin typeface="Aptos"/>
              </a:rPr>
              <a:t>Important deck choice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r>
              <a:rPr b="1" lang="en-US" sz="2200" spc="-1" strike="noStrike">
                <a:solidFill>
                  <a:srgbClr val="f8fafc"/>
                </a:solidFill>
                <a:latin typeface="Aptos"/>
              </a:rPr>
              <a:t>The forensic findings supersede the earlier length-mechanism narrative, so this PPT presents the audit as the main result and uses older claims only as background.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"/>
          <p:cNvSpPr/>
          <p:nvPr/>
        </p:nvSpPr>
        <p:spPr>
          <a:xfrm>
            <a:off x="0" y="0"/>
            <a:ext cx="11988000" cy="6732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0" y="0"/>
            <a:ext cx="151200" cy="6732000"/>
          </a:xfrm>
          <a:prstGeom prst="rect">
            <a:avLst/>
          </a:prstGeom>
          <a:solidFill>
            <a:srgbClr val="0c2a3f"/>
          </a:solidFill>
          <a:ln w="0">
            <a:solidFill>
              <a:srgbClr val="0c2a3f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378000" y="216000"/>
            <a:ext cx="11088000" cy="324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700" spc="-1" strike="noStrike">
                <a:solidFill>
                  <a:srgbClr val="f8fafc"/>
                </a:solidFill>
                <a:latin typeface="Aptos"/>
              </a:rPr>
              <a:t>Research Questions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388800" y="554400"/>
            <a:ext cx="8208000" cy="216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400" spc="-1" strike="noStrike">
                <a:solidFill>
                  <a:srgbClr val="9cb4c8"/>
                </a:solidFill>
                <a:latin typeface="Aptos"/>
              </a:rPr>
              <a:t>The questions this project can and cannot answer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378000" y="835200"/>
            <a:ext cx="1548000" cy="216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txBody>
          <a:bodyPr lIns="90000" rIns="90000" tIns="-23400" bIns="-234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1962000" y="835200"/>
            <a:ext cx="9504000" cy="6480"/>
          </a:xfrm>
          <a:prstGeom prst="rect">
            <a:avLst/>
          </a:prstGeom>
          <a:solidFill>
            <a:srgbClr val="31506a"/>
          </a:solidFill>
          <a:ln w="0">
            <a:solidFill>
              <a:srgbClr val="31506a"/>
            </a:solidFill>
          </a:ln>
        </p:spPr>
        <p:txBody>
          <a:bodyPr lIns="90000" rIns="90000" tIns="-38520" bIns="-385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10512000" y="6278400"/>
            <a:ext cx="900000" cy="1512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61200" bIns="43200" anchor="t" anchorCtr="1">
            <a:noAutofit/>
          </a:bodyPr>
          <a:p>
            <a:pPr algn="just"/>
            <a:r>
              <a:rPr b="1" lang="en-US" sz="1100" spc="-1" strike="noStrike">
                <a:solidFill>
                  <a:srgbClr val="9cb4c8"/>
                </a:solidFill>
                <a:latin typeface="Aptos"/>
              </a:rPr>
              <a:t>06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378000" y="6278400"/>
            <a:ext cx="4248000" cy="1512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61200" bIns="43200" anchor="t" anchorCtr="1">
            <a:noAutofit/>
          </a:bodyPr>
          <a:p>
            <a:r>
              <a:rPr b="0" lang="en-US" sz="1000" spc="-1" strike="noStrike">
                <a:solidFill>
                  <a:srgbClr val="6f879a"/>
                </a:solidFill>
                <a:latin typeface="Aptos"/>
              </a:rPr>
              <a:t>Materials adversarial learning forensic review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576000" y="1296000"/>
            <a:ext cx="10620000" cy="486000"/>
          </a:xfrm>
          <a:prstGeom prst="rect">
            <a:avLst/>
          </a:prstGeom>
          <a:solidFill>
            <a:srgbClr val="102b42"/>
          </a:solidFill>
          <a:ln w="0">
            <a:solidFill>
              <a:srgbClr val="38bdf8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200" spc="-1" strike="noStrike">
                <a:solidFill>
                  <a:srgbClr val="f8fafc"/>
                </a:solidFill>
                <a:latin typeface="Aptos"/>
              </a:rPr>
              <a:t>RQ1: Are polymer sequence regressors vulnerable to valid token-space perturbations?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576000" y="2052000"/>
            <a:ext cx="10620000" cy="486000"/>
          </a:xfrm>
          <a:prstGeom prst="rect">
            <a:avLst/>
          </a:prstGeom>
          <a:solidFill>
            <a:srgbClr val="102b42"/>
          </a:solidFill>
          <a:ln w="0">
            <a:solidFill>
              <a:srgbClr val="f59e0b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200" spc="-1" strike="noStrike">
                <a:solidFill>
                  <a:srgbClr val="f8fafc"/>
                </a:solidFill>
                <a:latin typeface="Aptos"/>
              </a:rPr>
              <a:t>RQ2: Is the vulnerability specifically caused by length-changing attacks?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576000" y="2808000"/>
            <a:ext cx="10620000" cy="486000"/>
          </a:xfrm>
          <a:prstGeom prst="rect">
            <a:avLst/>
          </a:prstGeom>
          <a:solidFill>
            <a:srgbClr val="102b42"/>
          </a:solidFill>
          <a:ln w="0">
            <a:solidFill>
              <a:srgbClr val="f59e0b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200" spc="-1" strike="noStrike">
                <a:solidFill>
                  <a:srgbClr val="f8fafc"/>
                </a:solidFill>
                <a:latin typeface="Aptos"/>
              </a:rPr>
              <a:t>RQ3: Does adversarial training generalize across attack families?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576000" y="3564000"/>
            <a:ext cx="10620000" cy="486000"/>
          </a:xfrm>
          <a:prstGeom prst="rect">
            <a:avLst/>
          </a:prstGeom>
          <a:solidFill>
            <a:srgbClr val="102b42"/>
          </a:solidFill>
          <a:ln w="0">
            <a:solidFill>
              <a:srgbClr val="f59e0b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200" spc="-1" strike="noStrike">
                <a:solidFill>
                  <a:srgbClr val="f8fafc"/>
                </a:solidFill>
                <a:latin typeface="Aptos"/>
              </a:rPr>
              <a:t>RQ4: Are the attack labels chemically justified as property-preserving?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576000" y="4320000"/>
            <a:ext cx="10620000" cy="486000"/>
          </a:xfrm>
          <a:prstGeom prst="rect">
            <a:avLst/>
          </a:prstGeom>
          <a:solidFill>
            <a:srgbClr val="102b42"/>
          </a:solidFill>
          <a:ln w="0">
            <a:solidFill>
              <a:srgbClr val="38bdf8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200" spc="-1" strike="noStrike">
                <a:solidFill>
                  <a:srgbClr val="f8fafc"/>
                </a:solidFill>
                <a:latin typeface="Aptos"/>
              </a:rPr>
              <a:t>RQ5: What gaps must be fixed before publishing a strong robustness claim?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"/>
          <p:cNvSpPr/>
          <p:nvPr/>
        </p:nvSpPr>
        <p:spPr>
          <a:xfrm>
            <a:off x="0" y="0"/>
            <a:ext cx="11988000" cy="6732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0" y="0"/>
            <a:ext cx="151200" cy="6732000"/>
          </a:xfrm>
          <a:prstGeom prst="rect">
            <a:avLst/>
          </a:prstGeom>
          <a:solidFill>
            <a:srgbClr val="0c2a3f"/>
          </a:solidFill>
          <a:ln w="0">
            <a:solidFill>
              <a:srgbClr val="0c2a3f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378000" y="216000"/>
            <a:ext cx="11088000" cy="324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700" spc="-1" strike="noStrike">
                <a:solidFill>
                  <a:srgbClr val="f8fafc"/>
                </a:solidFill>
                <a:latin typeface="Aptos"/>
              </a:rPr>
              <a:t>Literature Review And Gap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388800" y="554400"/>
            <a:ext cx="8208000" cy="216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400" spc="-1" strike="noStrike">
                <a:solidFill>
                  <a:srgbClr val="9cb4c8"/>
                </a:solidFill>
                <a:latin typeface="Aptos"/>
              </a:rPr>
              <a:t>Positioning, without pretending this project solved physics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378000" y="835200"/>
            <a:ext cx="1548000" cy="216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txBody>
          <a:bodyPr lIns="90000" rIns="90000" tIns="-23400" bIns="-234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1962000" y="835200"/>
            <a:ext cx="9504000" cy="6480"/>
          </a:xfrm>
          <a:prstGeom prst="rect">
            <a:avLst/>
          </a:prstGeom>
          <a:solidFill>
            <a:srgbClr val="31506a"/>
          </a:solidFill>
          <a:ln w="0">
            <a:solidFill>
              <a:srgbClr val="31506a"/>
            </a:solidFill>
          </a:ln>
        </p:spPr>
        <p:txBody>
          <a:bodyPr lIns="90000" rIns="90000" tIns="-38520" bIns="-385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10512000" y="6278400"/>
            <a:ext cx="900000" cy="1512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61200" bIns="43200" anchor="t" anchorCtr="1">
            <a:noAutofit/>
          </a:bodyPr>
          <a:p>
            <a:pPr algn="just"/>
            <a:r>
              <a:rPr b="1" lang="en-US" sz="1100" spc="-1" strike="noStrike">
                <a:solidFill>
                  <a:srgbClr val="9cb4c8"/>
                </a:solidFill>
                <a:latin typeface="Aptos"/>
              </a:rPr>
              <a:t>07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378000" y="6278400"/>
            <a:ext cx="4248000" cy="1512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61200" bIns="43200" anchor="t" anchorCtr="1">
            <a:noAutofit/>
          </a:bodyPr>
          <a:p>
            <a:r>
              <a:rPr b="0" lang="en-US" sz="1000" spc="-1" strike="noStrike">
                <a:solidFill>
                  <a:srgbClr val="6f879a"/>
                </a:solidFill>
                <a:latin typeface="Aptos"/>
              </a:rPr>
              <a:t>Materials adversarial learning forensic review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468000" y="1260000"/>
            <a:ext cx="5112000" cy="3600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9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1900" spc="-1" strike="noStrike">
                <a:solidFill>
                  <a:srgbClr val="f8fafc"/>
                </a:solidFill>
                <a:latin typeface="Aptos"/>
              </a:rPr>
              <a:t>Polymer property prediction often uses string representations such as SMILES/PSMILES because they are easy to tokenize.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1900" spc="-1" strike="noStrike">
                <a:solidFill>
                  <a:srgbClr val="f8fafc"/>
                </a:solidFill>
                <a:latin typeface="Aptos"/>
              </a:rPr>
              <a:t>Transformers can model token context, but small-data polymer datasets make shortcut learning plausible.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1900" spc="-1" strike="noStrike">
                <a:solidFill>
                  <a:srgbClr val="f8fafc"/>
                </a:solidFill>
                <a:latin typeface="Aptos"/>
              </a:rPr>
              <a:t>Standard reports emphasize clean MAE/R² more than invariance under equivalent or near-equivalent representations.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1900" spc="-1" strike="noStrike">
                <a:solidFill>
                  <a:srgbClr val="f8fafc"/>
                </a:solidFill>
                <a:latin typeface="Aptos"/>
              </a:rPr>
              <a:t>Prior adversarial examples in chemistry often conflate validity, plausibility, and unchanged target labels.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6192000" y="1404000"/>
            <a:ext cx="4680000" cy="2808000"/>
          </a:xfrm>
          <a:prstGeom prst="rect">
            <a:avLst/>
          </a:prstGeom>
          <a:solidFill>
            <a:srgbClr val="13283a"/>
          </a:solidFill>
          <a:ln w="0">
            <a:solidFill>
              <a:srgbClr val="f59e0b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400" spc="-1" strike="noStrike">
                <a:solidFill>
                  <a:srgbClr val="f8fafc"/>
                </a:solidFill>
                <a:latin typeface="Aptos"/>
              </a:rPr>
              <a:t>Exact gap this work exposes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r>
              <a:rPr b="1" lang="en-US" sz="2400" spc="-1" strike="noStrike">
                <a:solidFill>
                  <a:srgbClr val="f8fafc"/>
                </a:solidFill>
                <a:latin typeface="Aptos"/>
              </a:rPr>
              <a:t>The missing experiment is not more attacks. It is a clean, representation-level perturbation where the molecule and label are provably unchanged, plus matched-budget evaluation and cross-validated baselines.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"/>
          <p:cNvSpPr/>
          <p:nvPr/>
        </p:nvSpPr>
        <p:spPr>
          <a:xfrm>
            <a:off x="0" y="0"/>
            <a:ext cx="11988000" cy="6732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0" y="0"/>
            <a:ext cx="151200" cy="6732000"/>
          </a:xfrm>
          <a:prstGeom prst="rect">
            <a:avLst/>
          </a:prstGeom>
          <a:solidFill>
            <a:srgbClr val="0c2a3f"/>
          </a:solidFill>
          <a:ln w="0">
            <a:solidFill>
              <a:srgbClr val="0c2a3f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378000" y="216000"/>
            <a:ext cx="11088000" cy="324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700" spc="-1" strike="noStrike">
                <a:solidFill>
                  <a:srgbClr val="f8fafc"/>
                </a:solidFill>
                <a:latin typeface="Aptos"/>
              </a:rPr>
              <a:t>02 / Architecture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378000" y="835200"/>
            <a:ext cx="1548000" cy="216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txBody>
          <a:bodyPr lIns="90000" rIns="90000" tIns="-23400" bIns="-234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1962000" y="835200"/>
            <a:ext cx="9504000" cy="6480"/>
          </a:xfrm>
          <a:prstGeom prst="rect">
            <a:avLst/>
          </a:prstGeom>
          <a:solidFill>
            <a:srgbClr val="31506a"/>
          </a:solidFill>
          <a:ln w="0">
            <a:solidFill>
              <a:srgbClr val="31506a"/>
            </a:solidFill>
          </a:ln>
        </p:spPr>
        <p:txBody>
          <a:bodyPr lIns="90000" rIns="90000" tIns="-38520" bIns="-385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10512000" y="6278400"/>
            <a:ext cx="900000" cy="1512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61200" bIns="43200" anchor="t" anchorCtr="1">
            <a:noAutofit/>
          </a:bodyPr>
          <a:p>
            <a:pPr algn="just"/>
            <a:r>
              <a:rPr b="1" lang="en-US" sz="1100" spc="-1" strike="noStrike">
                <a:solidFill>
                  <a:srgbClr val="9cb4c8"/>
                </a:solidFill>
                <a:latin typeface="Aptos"/>
              </a:rPr>
              <a:t>08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378000" y="6278400"/>
            <a:ext cx="4248000" cy="1512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61200" bIns="43200" anchor="t" anchorCtr="1">
            <a:noAutofit/>
          </a:bodyPr>
          <a:p>
            <a:r>
              <a:rPr b="0" lang="en-US" sz="1000" spc="-1" strike="noStrike">
                <a:solidFill>
                  <a:srgbClr val="6f879a"/>
                </a:solidFill>
                <a:latin typeface="Aptos"/>
              </a:rPr>
              <a:t>Materials adversarial learning forensic review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648000" y="1908000"/>
            <a:ext cx="10260000" cy="1404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3400" spc="-1" strike="noStrike">
                <a:solidFill>
                  <a:srgbClr val="f8fafc"/>
                </a:solidFill>
                <a:latin typeface="Aptos"/>
              </a:rPr>
              <a:t>The actual system is an audit loop, not just a model.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1620000" y="3528000"/>
            <a:ext cx="8280000" cy="432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0" lang="en-US" sz="1900" spc="-1" strike="noStrike">
                <a:solidFill>
                  <a:srgbClr val="9cb4c8"/>
                </a:solidFill>
                <a:latin typeface="Aptos"/>
              </a:rPr>
              <a:t>Data processing, token attacks, model prediction, and forensic diagnostics all determine what claims are valid.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2952000" y="4230000"/>
            <a:ext cx="6048000" cy="288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txBody>
          <a:bodyPr lIns="90000" rIns="90000" tIns="-16200" bIns="-162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"/>
          <p:cNvSpPr/>
          <p:nvPr/>
        </p:nvSpPr>
        <p:spPr>
          <a:xfrm>
            <a:off x="0" y="0"/>
            <a:ext cx="11988000" cy="6732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0" y="0"/>
            <a:ext cx="151200" cy="6732000"/>
          </a:xfrm>
          <a:prstGeom prst="rect">
            <a:avLst/>
          </a:prstGeom>
          <a:solidFill>
            <a:srgbClr val="0c2a3f"/>
          </a:solidFill>
          <a:ln w="0">
            <a:solidFill>
              <a:srgbClr val="0c2a3f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378000" y="216000"/>
            <a:ext cx="11088000" cy="324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700" spc="-1" strike="noStrike">
                <a:solidFill>
                  <a:srgbClr val="f8fafc"/>
                </a:solidFill>
                <a:latin typeface="Aptos"/>
              </a:rPr>
              <a:t>System Architecture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388800" y="554400"/>
            <a:ext cx="8208000" cy="216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400" spc="-1" strike="noStrike">
                <a:solidFill>
                  <a:srgbClr val="9cb4c8"/>
                </a:solidFill>
                <a:latin typeface="Aptos"/>
              </a:rPr>
              <a:t>Generated from the implemented pipeline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378000" y="835200"/>
            <a:ext cx="1548000" cy="216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txBody>
          <a:bodyPr lIns="90000" rIns="90000" tIns="-23400" bIns="-234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1962000" y="835200"/>
            <a:ext cx="9504000" cy="6480"/>
          </a:xfrm>
          <a:prstGeom prst="rect">
            <a:avLst/>
          </a:prstGeom>
          <a:solidFill>
            <a:srgbClr val="31506a"/>
          </a:solidFill>
          <a:ln w="0">
            <a:solidFill>
              <a:srgbClr val="31506a"/>
            </a:solidFill>
          </a:ln>
        </p:spPr>
        <p:txBody>
          <a:bodyPr lIns="90000" rIns="90000" tIns="-38520" bIns="-385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10512000" y="6278400"/>
            <a:ext cx="900000" cy="1512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61200" bIns="43200" anchor="t" anchorCtr="1">
            <a:noAutofit/>
          </a:bodyPr>
          <a:p>
            <a:pPr algn="just"/>
            <a:r>
              <a:rPr b="1" lang="en-US" sz="1100" spc="-1" strike="noStrike">
                <a:solidFill>
                  <a:srgbClr val="9cb4c8"/>
                </a:solidFill>
                <a:latin typeface="Aptos"/>
              </a:rPr>
              <a:t>09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378000" y="6278400"/>
            <a:ext cx="4248000" cy="1512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61200" bIns="43200" anchor="t" anchorCtr="1">
            <a:noAutofit/>
          </a:bodyPr>
          <a:p>
            <a:r>
              <a:rPr b="0" lang="en-US" sz="1000" spc="-1" strike="noStrike">
                <a:solidFill>
                  <a:srgbClr val="6f879a"/>
                </a:solidFill>
                <a:latin typeface="Aptos"/>
              </a:rPr>
              <a:t>Materials adversarial learning forensic review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378000" y="1029600"/>
            <a:ext cx="1296000" cy="1548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64800" bIns="46800" anchor="t" anchorCtr="1">
            <a:noAutofit/>
          </a:bodyPr>
          <a:p>
            <a:r>
              <a:rPr b="1" lang="en-US" sz="1200" spc="-1" strike="noStrike">
                <a:solidFill>
                  <a:srgbClr val="38bdf8"/>
                </a:solidFill>
                <a:latin typeface="Aptos"/>
              </a:rPr>
              <a:t>DATA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378000" y="1180800"/>
            <a:ext cx="10908000" cy="19800"/>
          </a:xfrm>
          <a:prstGeom prst="rect">
            <a:avLst/>
          </a:prstGeom>
          <a:solidFill>
            <a:srgbClr val="31506a"/>
          </a:solidFill>
          <a:ln w="0">
            <a:solidFill>
              <a:srgbClr val="31506a"/>
            </a:solidFill>
          </a:ln>
        </p:spPr>
        <p:txBody>
          <a:bodyPr lIns="90000" rIns="90000" tIns="-25200" bIns="-252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378000" y="2289600"/>
            <a:ext cx="1296000" cy="1548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64800" bIns="46800" anchor="t" anchorCtr="1">
            <a:noAutofit/>
          </a:bodyPr>
          <a:p>
            <a:r>
              <a:rPr b="1" lang="en-US" sz="1200" spc="-1" strike="noStrike">
                <a:solidFill>
                  <a:srgbClr val="38bdf8"/>
                </a:solidFill>
                <a:latin typeface="Aptos"/>
              </a:rPr>
              <a:t>ATTACKS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378000" y="2440800"/>
            <a:ext cx="10908000" cy="19800"/>
          </a:xfrm>
          <a:prstGeom prst="rect">
            <a:avLst/>
          </a:prstGeom>
          <a:solidFill>
            <a:srgbClr val="31506a"/>
          </a:solidFill>
          <a:ln w="0">
            <a:solidFill>
              <a:srgbClr val="31506a"/>
            </a:solidFill>
          </a:ln>
        </p:spPr>
        <p:txBody>
          <a:bodyPr lIns="90000" rIns="90000" tIns="-25200" bIns="-252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378000" y="3549600"/>
            <a:ext cx="1296000" cy="1548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64800" bIns="46800" anchor="t" anchorCtr="1">
            <a:noAutofit/>
          </a:bodyPr>
          <a:p>
            <a:r>
              <a:rPr b="1" lang="en-US" sz="1200" spc="-1" strike="noStrike">
                <a:solidFill>
                  <a:srgbClr val="38bdf8"/>
                </a:solidFill>
                <a:latin typeface="Aptos"/>
              </a:rPr>
              <a:t>MODEL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378000" y="3700800"/>
            <a:ext cx="10908000" cy="19800"/>
          </a:xfrm>
          <a:prstGeom prst="rect">
            <a:avLst/>
          </a:prstGeom>
          <a:solidFill>
            <a:srgbClr val="31506a"/>
          </a:solidFill>
          <a:ln w="0">
            <a:solidFill>
              <a:srgbClr val="31506a"/>
            </a:solidFill>
          </a:ln>
        </p:spPr>
        <p:txBody>
          <a:bodyPr lIns="90000" rIns="90000" tIns="-25200" bIns="-252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378000" y="4809600"/>
            <a:ext cx="1296000" cy="1548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64800" bIns="46800" anchor="t" anchorCtr="1">
            <a:noAutofit/>
          </a:bodyPr>
          <a:p>
            <a:r>
              <a:rPr b="1" lang="en-US" sz="1200" spc="-1" strike="noStrike">
                <a:solidFill>
                  <a:srgbClr val="f59e0b"/>
                </a:solidFill>
                <a:latin typeface="Aptos"/>
              </a:rPr>
              <a:t>AUDIT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378000" y="4960800"/>
            <a:ext cx="10908000" cy="19800"/>
          </a:xfrm>
          <a:prstGeom prst="rect">
            <a:avLst/>
          </a:prstGeom>
          <a:solidFill>
            <a:srgbClr val="31506a"/>
          </a:solidFill>
          <a:ln w="0">
            <a:solidFill>
              <a:srgbClr val="31506a"/>
            </a:solidFill>
          </a:ln>
        </p:spPr>
        <p:txBody>
          <a:bodyPr lIns="90000" rIns="90000" tIns="-25200" bIns="-252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594000" y="1224000"/>
            <a:ext cx="2196000" cy="576000"/>
          </a:xfrm>
          <a:prstGeom prst="rect">
            <a:avLst/>
          </a:prstGeom>
          <a:solidFill>
            <a:srgbClr val="10263a"/>
          </a:solidFill>
          <a:ln w="0">
            <a:solidFill>
              <a:srgbClr val="38bdf8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1700" spc="-1" strike="noStrike">
                <a:solidFill>
                  <a:srgbClr val="f8fafc"/>
                </a:solidFill>
                <a:latin typeface="Aptos"/>
              </a:rPr>
              <a:t>Raw table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algn="r"/>
            <a:r>
              <a:rPr b="1" lang="en-US" sz="1700" spc="-1" strike="noStrike">
                <a:solidFill>
                  <a:srgbClr val="f8fafc"/>
                </a:solidFill>
                <a:latin typeface="Aptos"/>
              </a:rPr>
              <a:t>741 rows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algn="r"/>
            <a:r>
              <a:rPr b="1" lang="en-US" sz="1700" spc="-1" strike="noStrike">
                <a:solidFill>
                  <a:srgbClr val="f8fafc"/>
                </a:solidFill>
                <a:latin typeface="Aptos"/>
              </a:rPr>
              <a:t>32 properties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2790000" y="1512000"/>
            <a:ext cx="320400" cy="0"/>
          </a:xfrm>
          <a:prstGeom prst="line">
            <a:avLst/>
          </a:prstGeom>
          <a:ln w="25200">
            <a:solidFill>
              <a:srgbClr val="9cb4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rIns="102600" tIns="-57600" bIns="-576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3240000" y="1224000"/>
            <a:ext cx="2196000" cy="576000"/>
          </a:xfrm>
          <a:prstGeom prst="rect">
            <a:avLst/>
          </a:prstGeom>
          <a:solidFill>
            <a:srgbClr val="10263a"/>
          </a:solidFill>
          <a:ln w="0">
            <a:solidFill>
              <a:srgbClr val="38bdf8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1700" spc="-1" strike="noStrike">
                <a:solidFill>
                  <a:srgbClr val="f8fafc"/>
                </a:solidFill>
                <a:latin typeface="Aptos"/>
              </a:rPr>
              <a:t>Tg filter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algn="r"/>
            <a:r>
              <a:rPr b="1" lang="en-US" sz="1700" spc="-1" strike="noStrike">
                <a:solidFill>
                  <a:srgbClr val="f8fafc"/>
                </a:solidFill>
                <a:latin typeface="Aptos"/>
              </a:rPr>
              <a:t>443 non-null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algn="r"/>
            <a:r>
              <a:rPr b="1" lang="en-US" sz="1700" spc="-1" strike="noStrike">
                <a:solidFill>
                  <a:srgbClr val="f8fafc"/>
                </a:solidFill>
                <a:latin typeface="Aptos"/>
              </a:rPr>
              <a:t>Tg records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5436000" y="1512000"/>
            <a:ext cx="320400" cy="0"/>
          </a:xfrm>
          <a:prstGeom prst="line">
            <a:avLst/>
          </a:prstGeom>
          <a:ln w="25200">
            <a:solidFill>
              <a:srgbClr val="9cb4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rIns="102600" tIns="-57600" bIns="-576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5886000" y="1224000"/>
            <a:ext cx="2196000" cy="576000"/>
          </a:xfrm>
          <a:prstGeom prst="rect">
            <a:avLst/>
          </a:prstGeom>
          <a:solidFill>
            <a:srgbClr val="10263a"/>
          </a:solidFill>
          <a:ln w="0">
            <a:solidFill>
              <a:srgbClr val="38bdf8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1700" spc="-1" strike="noStrike">
                <a:solidFill>
                  <a:srgbClr val="f8fafc"/>
                </a:solidFill>
                <a:latin typeface="Aptos"/>
              </a:rPr>
              <a:t>Canonicalize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algn="r"/>
            <a:r>
              <a:rPr b="1" lang="en-US" sz="1700" spc="-1" strike="noStrike">
                <a:solidFill>
                  <a:srgbClr val="f8fafc"/>
                </a:solidFill>
                <a:latin typeface="Aptos"/>
              </a:rPr>
              <a:t>RDKit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algn="r"/>
            <a:r>
              <a:rPr b="1" lang="en-US" sz="1700" spc="-1" strike="noStrike">
                <a:solidFill>
                  <a:srgbClr val="f8fafc"/>
                </a:solidFill>
                <a:latin typeface="Aptos"/>
              </a:rPr>
              <a:t>+ drop conflicts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8082000" y="1512000"/>
            <a:ext cx="320400" cy="0"/>
          </a:xfrm>
          <a:prstGeom prst="line">
            <a:avLst/>
          </a:prstGeom>
          <a:ln w="25200">
            <a:solidFill>
              <a:srgbClr val="9cb4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rIns="102600" tIns="-57600" bIns="-576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8532000" y="1224000"/>
            <a:ext cx="2196000" cy="576000"/>
          </a:xfrm>
          <a:prstGeom prst="rect">
            <a:avLst/>
          </a:prstGeom>
          <a:solidFill>
            <a:srgbClr val="10263a"/>
          </a:solidFill>
          <a:ln w="0">
            <a:solidFill>
              <a:srgbClr val="38bdf8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1700" spc="-1" strike="noStrike">
                <a:solidFill>
                  <a:srgbClr val="f8fafc"/>
                </a:solidFill>
                <a:latin typeface="Aptos"/>
              </a:rPr>
              <a:t>Final split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algn="r"/>
            <a:r>
              <a:rPr b="1" lang="en-US" sz="1700" spc="-1" strike="noStrike">
                <a:solidFill>
                  <a:srgbClr val="f8fafc"/>
                </a:solidFill>
                <a:latin typeface="Aptos"/>
              </a:rPr>
              <a:t>247 samples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algn="r"/>
            <a:r>
              <a:rPr b="1" lang="en-US" sz="1700" spc="-1" strike="noStrike">
                <a:solidFill>
                  <a:srgbClr val="f8fafc"/>
                </a:solidFill>
                <a:latin typeface="Aptos"/>
              </a:rPr>
              <a:t>204 / 37 / 6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1080000" y="2484000"/>
            <a:ext cx="2736000" cy="666000"/>
          </a:xfrm>
          <a:prstGeom prst="rect">
            <a:avLst/>
          </a:prstGeom>
          <a:solidFill>
            <a:srgbClr val="132f46"/>
          </a:solidFill>
          <a:ln w="0">
            <a:solidFill>
              <a:srgbClr val="2563eb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1600" spc="-1" strike="noStrike">
                <a:solidFill>
                  <a:srgbClr val="f8fafc"/>
                </a:solidFill>
                <a:latin typeface="Aptos"/>
              </a:rPr>
              <a:t>Token edits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r"/>
            <a:r>
              <a:rPr b="1" lang="en-US" sz="1600" spc="-1" strike="noStrike">
                <a:solidFill>
                  <a:srgbClr val="f8fafc"/>
                </a:solidFill>
                <a:latin typeface="Aptos"/>
              </a:rPr>
              <a:t>substitution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r"/>
            <a:r>
              <a:rPr b="1" lang="en-US" sz="1600" spc="-1" strike="noStrike">
                <a:solidFill>
                  <a:srgbClr val="f8fafc"/>
                </a:solidFill>
                <a:latin typeface="Aptos"/>
              </a:rPr>
              <a:t>rearrangement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r"/>
            <a:r>
              <a:rPr b="1" lang="en-US" sz="1600" spc="-1" strike="noStrike">
                <a:solidFill>
                  <a:srgbClr val="f8fafc"/>
                </a:solidFill>
                <a:latin typeface="Aptos"/>
              </a:rPr>
              <a:t>insertion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r"/>
            <a:r>
              <a:rPr b="1" lang="en-US" sz="1600" spc="-1" strike="noStrike">
                <a:solidFill>
                  <a:srgbClr val="f8fafc"/>
                </a:solidFill>
                <a:latin typeface="Aptos"/>
              </a:rPr>
              <a:t>deletion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3816000" y="2815200"/>
            <a:ext cx="518400" cy="0"/>
          </a:xfrm>
          <a:prstGeom prst="line">
            <a:avLst/>
          </a:prstGeom>
          <a:ln w="25200">
            <a:solidFill>
              <a:srgbClr val="9cb4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rIns="102600" tIns="-57600" bIns="-576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4464000" y="2484000"/>
            <a:ext cx="2736000" cy="666000"/>
          </a:xfrm>
          <a:prstGeom prst="rect">
            <a:avLst/>
          </a:prstGeom>
          <a:solidFill>
            <a:srgbClr val="132f46"/>
          </a:solidFill>
          <a:ln w="0">
            <a:solidFill>
              <a:srgbClr val="2563eb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1600" spc="-1" strike="noStrike">
                <a:solidFill>
                  <a:srgbClr val="f8fafc"/>
                </a:solidFill>
                <a:latin typeface="Aptos"/>
              </a:rPr>
              <a:t>Filters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r"/>
            <a:r>
              <a:rPr b="1" lang="en-US" sz="1600" spc="-1" strike="noStrike">
                <a:solidFill>
                  <a:srgbClr val="f8fafc"/>
                </a:solidFill>
                <a:latin typeface="Aptos"/>
              </a:rPr>
              <a:t>protected tokens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r"/>
            <a:r>
              <a:rPr b="1" lang="en-US" sz="1600" spc="-1" strike="noStrike">
                <a:solidFill>
                  <a:srgbClr val="f8fafc"/>
                </a:solidFill>
                <a:latin typeface="Aptos"/>
              </a:rPr>
              <a:t>RDKit validity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r"/>
            <a:r>
              <a:rPr b="1" lang="en-US" sz="1600" spc="-1" strike="noStrike">
                <a:solidFill>
                  <a:srgbClr val="f8fafc"/>
                </a:solidFill>
                <a:latin typeface="Aptos"/>
              </a:rPr>
              <a:t>plausibility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7200000" y="2815200"/>
            <a:ext cx="518400" cy="0"/>
          </a:xfrm>
          <a:prstGeom prst="line">
            <a:avLst/>
          </a:prstGeom>
          <a:ln w="25200">
            <a:solidFill>
              <a:srgbClr val="9cb4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rIns="102600" tIns="-57600" bIns="-576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7848000" y="2484000"/>
            <a:ext cx="2736000" cy="666000"/>
          </a:xfrm>
          <a:prstGeom prst="rect">
            <a:avLst/>
          </a:prstGeom>
          <a:solidFill>
            <a:srgbClr val="132f46"/>
          </a:solidFill>
          <a:ln w="0">
            <a:solidFill>
              <a:srgbClr val="2563eb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1600" spc="-1" strike="noStrike">
                <a:solidFill>
                  <a:srgbClr val="f8fafc"/>
                </a:solidFill>
                <a:latin typeface="Aptos"/>
              </a:rPr>
              <a:t>Candidate pool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r"/>
            <a:r>
              <a:rPr b="1" lang="en-US" sz="1600" spc="-1" strike="noStrike">
                <a:solidFill>
                  <a:srgbClr val="f8fafc"/>
                </a:solidFill>
                <a:latin typeface="Aptos"/>
              </a:rPr>
              <a:t>Phase 2B: 651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r"/>
            <a:r>
              <a:rPr b="1" lang="en-US" sz="1600" spc="-1" strike="noStrike">
                <a:solidFill>
                  <a:srgbClr val="f8fafc"/>
                </a:solidFill>
                <a:latin typeface="Aptos"/>
              </a:rPr>
              <a:t>sets identical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1080000" y="3744000"/>
            <a:ext cx="2736000" cy="612000"/>
          </a:xfrm>
          <a:prstGeom prst="rect">
            <a:avLst/>
          </a:prstGeom>
          <a:solidFill>
            <a:srgbClr val="10263a"/>
          </a:solidFill>
          <a:ln w="0">
            <a:solidFill>
              <a:srgbClr val="f59e0b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1700" spc="-1" strike="noStrike">
                <a:solidFill>
                  <a:srgbClr val="f8fafc"/>
                </a:solidFill>
                <a:latin typeface="Aptos"/>
              </a:rPr>
              <a:t>Baseline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algn="r"/>
            <a:r>
              <a:rPr b="1" lang="en-US" sz="1700" spc="-1" strike="noStrike">
                <a:solidFill>
                  <a:srgbClr val="f8fafc"/>
                </a:solidFill>
                <a:latin typeface="Aptos"/>
              </a:rPr>
              <a:t>Transformer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algn="r"/>
            <a:r>
              <a:rPr b="1" lang="en-US" sz="1700" spc="-1" strike="noStrike">
                <a:solidFill>
                  <a:srgbClr val="f8fafc"/>
                </a:solidFill>
                <a:latin typeface="Aptos"/>
              </a:rPr>
              <a:t>regressor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3816000" y="4050000"/>
            <a:ext cx="518400" cy="0"/>
          </a:xfrm>
          <a:prstGeom prst="line">
            <a:avLst/>
          </a:prstGeom>
          <a:ln w="25200">
            <a:solidFill>
              <a:srgbClr val="9cb4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rIns="102600" tIns="-57600" bIns="-576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4464000" y="3744000"/>
            <a:ext cx="2736000" cy="612000"/>
          </a:xfrm>
          <a:prstGeom prst="rect">
            <a:avLst/>
          </a:prstGeom>
          <a:solidFill>
            <a:srgbClr val="10263a"/>
          </a:solidFill>
          <a:ln w="0">
            <a:solidFill>
              <a:srgbClr val="f59e0b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1700" spc="-1" strike="noStrike">
                <a:solidFill>
                  <a:srgbClr val="f8fafc"/>
                </a:solidFill>
                <a:latin typeface="Aptos"/>
              </a:rPr>
              <a:t>Defense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algn="r"/>
            <a:r>
              <a:rPr b="1" lang="en-US" sz="1700" spc="-1" strike="noStrike">
                <a:solidFill>
                  <a:srgbClr val="f8fafc"/>
                </a:solidFill>
                <a:latin typeface="Aptos"/>
              </a:rPr>
              <a:t>Adversarial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algn="r"/>
            <a:r>
              <a:rPr b="1" lang="en-US" sz="1700" spc="-1" strike="noStrike">
                <a:solidFill>
                  <a:srgbClr val="f8fafc"/>
                </a:solidFill>
                <a:latin typeface="Aptos"/>
              </a:rPr>
              <a:t>training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7200000" y="4050000"/>
            <a:ext cx="518400" cy="0"/>
          </a:xfrm>
          <a:prstGeom prst="line">
            <a:avLst/>
          </a:prstGeom>
          <a:ln w="25200">
            <a:solidFill>
              <a:srgbClr val="9cb4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rIns="102600" tIns="-57600" bIns="-576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7848000" y="3744000"/>
            <a:ext cx="2736000" cy="612000"/>
          </a:xfrm>
          <a:prstGeom prst="rect">
            <a:avLst/>
          </a:prstGeom>
          <a:solidFill>
            <a:srgbClr val="10263a"/>
          </a:solidFill>
          <a:ln w="0">
            <a:solidFill>
              <a:srgbClr val="f59e0b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1700" spc="-1" strike="noStrike">
                <a:solidFill>
                  <a:srgbClr val="f8fafc"/>
                </a:solidFill>
                <a:latin typeface="Aptos"/>
              </a:rPr>
              <a:t>Predictions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algn="r"/>
            <a:r>
              <a:rPr b="1" lang="en-US" sz="1700" spc="-1" strike="noStrike">
                <a:solidFill>
                  <a:srgbClr val="f8fafc"/>
                </a:solidFill>
                <a:latin typeface="Aptos"/>
              </a:rPr>
              <a:t>Tg drift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algn="r"/>
            <a:r>
              <a:rPr b="1" lang="en-US" sz="1700" spc="-1" strike="noStrike">
                <a:solidFill>
                  <a:srgbClr val="f8fafc"/>
                </a:solidFill>
                <a:latin typeface="Aptos"/>
              </a:rPr>
              <a:t>in Kelvin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594000" y="5004000"/>
            <a:ext cx="2196000" cy="576000"/>
          </a:xfrm>
          <a:prstGeom prst="rect">
            <a:avLst/>
          </a:prstGeom>
          <a:solidFill>
            <a:srgbClr val="241b1d"/>
          </a:solidFill>
          <a:ln w="0">
            <a:solidFill>
              <a:srgbClr val="f59e0b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1700" spc="-1" strike="noStrike">
                <a:solidFill>
                  <a:srgbClr val="f8fafc"/>
                </a:solidFill>
                <a:latin typeface="Aptos"/>
              </a:rPr>
              <a:t>D1/D2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algn="r"/>
            <a:r>
              <a:rPr b="1" lang="en-US" sz="1700" spc="-1" strike="noStrike">
                <a:solidFill>
                  <a:srgbClr val="f8fafc"/>
                </a:solidFill>
                <a:latin typeface="Aptos"/>
              </a:rPr>
              <a:t>masking +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algn="r"/>
            <a:r>
              <a:rPr b="1" lang="en-US" sz="1700" spc="-1" strike="noStrike">
                <a:solidFill>
                  <a:srgbClr val="f8fafc"/>
                </a:solidFill>
                <a:latin typeface="Aptos"/>
              </a:rPr>
              <a:t>position probes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3240000" y="5004000"/>
            <a:ext cx="2196000" cy="576000"/>
          </a:xfrm>
          <a:prstGeom prst="rect">
            <a:avLst/>
          </a:prstGeom>
          <a:solidFill>
            <a:srgbClr val="241b1d"/>
          </a:solidFill>
          <a:ln w="0">
            <a:solidFill>
              <a:srgbClr val="ef4444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1700" spc="-1" strike="noStrike">
                <a:solidFill>
                  <a:srgbClr val="f8fafc"/>
                </a:solidFill>
                <a:latin typeface="Aptos"/>
              </a:rPr>
              <a:t>D3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algn="r"/>
            <a:r>
              <a:rPr b="1" lang="en-US" sz="1700" spc="-1" strike="noStrike">
                <a:solidFill>
                  <a:srgbClr val="f8fafc"/>
                </a:solidFill>
                <a:latin typeface="Aptos"/>
              </a:rPr>
              <a:t>length-only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algn="r"/>
            <a:r>
              <a:rPr b="1" lang="en-US" sz="1700" spc="-1" strike="noStrike">
                <a:solidFill>
                  <a:srgbClr val="f8fafc"/>
                </a:solidFill>
                <a:latin typeface="Aptos"/>
              </a:rPr>
              <a:t>baseline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5886000" y="5004000"/>
            <a:ext cx="2196000" cy="576000"/>
          </a:xfrm>
          <a:prstGeom prst="rect">
            <a:avLst/>
          </a:prstGeom>
          <a:solidFill>
            <a:srgbClr val="241b1d"/>
          </a:solidFill>
          <a:ln w="0">
            <a:solidFill>
              <a:srgbClr val="ef4444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1700" spc="-1" strike="noStrike">
                <a:solidFill>
                  <a:srgbClr val="f8fafc"/>
                </a:solidFill>
                <a:latin typeface="Aptos"/>
              </a:rPr>
              <a:t>D4-D7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algn="r"/>
            <a:r>
              <a:rPr b="1" lang="en-US" sz="1700" spc="-1" strike="noStrike">
                <a:solidFill>
                  <a:srgbClr val="f8fafc"/>
                </a:solidFill>
                <a:latin typeface="Aptos"/>
              </a:rPr>
              <a:t>length control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algn="r"/>
            <a:r>
              <a:rPr b="1" lang="en-US" sz="1700" spc="-1" strike="noStrike">
                <a:solidFill>
                  <a:srgbClr val="f8fafc"/>
                </a:solidFill>
                <a:latin typeface="Aptos"/>
              </a:rPr>
              <a:t>5 seeds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8532000" y="5004000"/>
            <a:ext cx="2196000" cy="576000"/>
          </a:xfrm>
          <a:prstGeom prst="rect">
            <a:avLst/>
          </a:prstGeom>
          <a:solidFill>
            <a:srgbClr val="241b1d"/>
          </a:solidFill>
          <a:ln w="0">
            <a:solidFill>
              <a:srgbClr val="ef4444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1700" spc="-1" strike="noStrike">
                <a:solidFill>
                  <a:srgbClr val="f8fafc"/>
                </a:solidFill>
                <a:latin typeface="Aptos"/>
              </a:rPr>
              <a:t>D6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algn="r"/>
            <a:r>
              <a:rPr b="1" lang="en-US" sz="1700" spc="-1" strike="noStrike">
                <a:solidFill>
                  <a:srgbClr val="f8fafc"/>
                </a:solidFill>
                <a:latin typeface="Aptos"/>
              </a:rPr>
              <a:t>chemical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algn="r"/>
            <a:r>
              <a:rPr b="1" lang="en-US" sz="1700" spc="-1" strike="noStrike">
                <a:solidFill>
                  <a:srgbClr val="f8fafc"/>
                </a:solidFill>
                <a:latin typeface="Aptos"/>
              </a:rPr>
              <a:t>severity audit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 flipV="1">
            <a:off x="10188000" y="1044000"/>
            <a:ext cx="0" cy="3816000"/>
          </a:xfrm>
          <a:prstGeom prst="line">
            <a:avLst/>
          </a:prstGeom>
          <a:ln w="198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720" rIns="99720" tIns="54720" bIns="547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 flipH="1">
            <a:off x="4824000" y="1044000"/>
            <a:ext cx="5364000" cy="0"/>
          </a:xfrm>
          <a:prstGeom prst="line">
            <a:avLst/>
          </a:prstGeom>
          <a:ln w="198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720" rIns="99720" tIns="-54720" bIns="-547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"/>
          <p:cNvSpPr/>
          <p:nvPr/>
        </p:nvSpPr>
        <p:spPr>
          <a:xfrm>
            <a:off x="4752000" y="907200"/>
            <a:ext cx="3744000" cy="223200"/>
          </a:xfrm>
          <a:prstGeom prst="rect">
            <a:avLst/>
          </a:prstGeom>
          <a:solidFill>
            <a:srgbClr val="241b1d"/>
          </a:solidFill>
          <a:ln w="0">
            <a:solidFill>
              <a:srgbClr val="ef4444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1300" spc="-1" strike="noStrike">
                <a:solidFill>
                  <a:srgbClr val="f8fafc"/>
                </a:solidFill>
                <a:latin typeface="Aptos"/>
              </a:rPr>
              <a:t>claim-revision feedback loop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"/>
          <p:cNvSpPr/>
          <p:nvPr/>
        </p:nvSpPr>
        <p:spPr>
          <a:xfrm>
            <a:off x="0" y="0"/>
            <a:ext cx="11988000" cy="6732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0" y="0"/>
            <a:ext cx="151200" cy="6732000"/>
          </a:xfrm>
          <a:prstGeom prst="rect">
            <a:avLst/>
          </a:prstGeom>
          <a:solidFill>
            <a:srgbClr val="0c2a3f"/>
          </a:solidFill>
          <a:ln w="0">
            <a:solidFill>
              <a:srgbClr val="0c2a3f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378000" y="216000"/>
            <a:ext cx="11088000" cy="324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700" spc="-1" strike="noStrike">
                <a:solidFill>
                  <a:srgbClr val="f8fafc"/>
                </a:solidFill>
                <a:latin typeface="Aptos"/>
              </a:rPr>
              <a:t>Model Architecture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388800" y="554400"/>
            <a:ext cx="8208000" cy="216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400" spc="-1" strike="noStrike">
                <a:solidFill>
                  <a:srgbClr val="9cb4c8"/>
                </a:solidFill>
                <a:latin typeface="Aptos"/>
              </a:rPr>
              <a:t>Generated from transformer.py, regression.py, and model.yaml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378000" y="835200"/>
            <a:ext cx="1548000" cy="216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txBody>
          <a:bodyPr lIns="90000" rIns="90000" tIns="-23400" bIns="-234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1962000" y="835200"/>
            <a:ext cx="9504000" cy="6480"/>
          </a:xfrm>
          <a:prstGeom prst="rect">
            <a:avLst/>
          </a:prstGeom>
          <a:solidFill>
            <a:srgbClr val="31506a"/>
          </a:solidFill>
          <a:ln w="0">
            <a:solidFill>
              <a:srgbClr val="31506a"/>
            </a:solidFill>
          </a:ln>
        </p:spPr>
        <p:txBody>
          <a:bodyPr lIns="90000" rIns="90000" tIns="-38520" bIns="-385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10512000" y="6278400"/>
            <a:ext cx="900000" cy="1512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61200" bIns="43200" anchor="t" anchorCtr="1">
            <a:noAutofit/>
          </a:bodyPr>
          <a:p>
            <a:pPr algn="just"/>
            <a:r>
              <a:rPr b="1" lang="en-US" sz="1100" spc="-1" strike="noStrike">
                <a:solidFill>
                  <a:srgbClr val="9cb4c8"/>
                </a:solidFill>
                <a:latin typeface="Aptos"/>
              </a:rPr>
              <a:t>10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378000" y="6278400"/>
            <a:ext cx="4248000" cy="1512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61200" bIns="43200" anchor="t" anchorCtr="1">
            <a:noAutofit/>
          </a:bodyPr>
          <a:p>
            <a:r>
              <a:rPr b="0" lang="en-US" sz="1000" spc="-1" strike="noStrike">
                <a:solidFill>
                  <a:srgbClr val="6f879a"/>
                </a:solidFill>
                <a:latin typeface="Aptos"/>
              </a:rPr>
              <a:t>Materials adversarial learning forensic review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468000" y="1188000"/>
            <a:ext cx="1800000" cy="1548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64800" bIns="46800" anchor="t" anchorCtr="1">
            <a:noAutofit/>
          </a:bodyPr>
          <a:p>
            <a:r>
              <a:rPr b="1" lang="en-US" sz="1200" spc="-1" strike="noStrike">
                <a:solidFill>
                  <a:srgbClr val="38bdf8"/>
                </a:solidFill>
                <a:latin typeface="Aptos"/>
              </a:rPr>
              <a:t>IMPLEMENTED FORWARD PASS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522000" y="1404000"/>
            <a:ext cx="2808000" cy="331200"/>
          </a:xfrm>
          <a:prstGeom prst="rect">
            <a:avLst/>
          </a:prstGeom>
          <a:solidFill>
            <a:srgbClr val="10263a"/>
          </a:solidFill>
          <a:ln w="0">
            <a:solidFill>
              <a:srgbClr val="38bdf8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1500" spc="-1" strike="noStrike">
                <a:solidFill>
                  <a:srgbClr val="f8fafc"/>
                </a:solidFill>
                <a:latin typeface="Aptos"/>
              </a:rPr>
              <a:t>PSMILES string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r"/>
            <a:r>
              <a:rPr b="1" lang="en-US" sz="1500" spc="-1" strike="noStrike">
                <a:solidFill>
                  <a:srgbClr val="f8fafc"/>
                </a:solidFill>
                <a:latin typeface="Aptos"/>
              </a:rPr>
              <a:t>raw polymer sequence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1926000" y="1735200"/>
            <a:ext cx="0" cy="126000"/>
          </a:xfrm>
          <a:prstGeom prst="line">
            <a:avLst/>
          </a:prstGeom>
          <a:ln w="19800">
            <a:solidFill>
              <a:srgbClr val="9cb4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720" rIns="99720" tIns="54720" bIns="547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522000" y="1890000"/>
            <a:ext cx="2808000" cy="331200"/>
          </a:xfrm>
          <a:prstGeom prst="rect">
            <a:avLst/>
          </a:prstGeom>
          <a:solidFill>
            <a:srgbClr val="10263a"/>
          </a:solidFill>
          <a:ln w="0">
            <a:solidFill>
              <a:srgbClr val="38bdf8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1500" spc="-1" strike="noStrike">
                <a:solidFill>
                  <a:srgbClr val="f8fafc"/>
                </a:solidFill>
                <a:latin typeface="Aptos"/>
              </a:rPr>
              <a:t>Regex tokenizer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r"/>
            <a:r>
              <a:rPr b="1" lang="en-US" sz="1500" spc="-1" strike="noStrike">
                <a:solidFill>
                  <a:srgbClr val="f8fafc"/>
                </a:solidFill>
                <a:latin typeface="Aptos"/>
              </a:rPr>
              <a:t>45-token vocabulary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1926000" y="2221200"/>
            <a:ext cx="0" cy="126000"/>
          </a:xfrm>
          <a:prstGeom prst="line">
            <a:avLst/>
          </a:prstGeom>
          <a:ln w="19800">
            <a:solidFill>
              <a:srgbClr val="9cb4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720" rIns="99720" tIns="54720" bIns="547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522000" y="2376000"/>
            <a:ext cx="2808000" cy="331200"/>
          </a:xfrm>
          <a:prstGeom prst="rect">
            <a:avLst/>
          </a:prstGeom>
          <a:solidFill>
            <a:srgbClr val="10263a"/>
          </a:solidFill>
          <a:ln w="0">
            <a:solidFill>
              <a:srgbClr val="38bdf8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1500" spc="-1" strike="noStrike">
                <a:solidFill>
                  <a:srgbClr val="f8fafc"/>
                </a:solidFill>
                <a:latin typeface="Aptos"/>
              </a:rPr>
              <a:t>Token ids [B,L]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r"/>
            <a:r>
              <a:rPr b="1" lang="en-US" sz="1500" spc="-1" strike="noStrike">
                <a:solidFill>
                  <a:srgbClr val="f8fafc"/>
                </a:solidFill>
                <a:latin typeface="Aptos"/>
              </a:rPr>
              <a:t>PAD id = 0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1926000" y="2707200"/>
            <a:ext cx="0" cy="126000"/>
          </a:xfrm>
          <a:prstGeom prst="line">
            <a:avLst/>
          </a:prstGeom>
          <a:ln w="19800">
            <a:solidFill>
              <a:srgbClr val="9cb4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720" rIns="99720" tIns="54720" bIns="547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>
            <a:off x="522000" y="2862000"/>
            <a:ext cx="2808000" cy="331200"/>
          </a:xfrm>
          <a:prstGeom prst="rect">
            <a:avLst/>
          </a:prstGeom>
          <a:solidFill>
            <a:srgbClr val="10263a"/>
          </a:solidFill>
          <a:ln w="0">
            <a:solidFill>
              <a:srgbClr val="f59e0b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1500" spc="-1" strike="noStrike">
                <a:solidFill>
                  <a:srgbClr val="f8fafc"/>
                </a:solidFill>
                <a:latin typeface="Aptos"/>
              </a:rPr>
              <a:t>Token embedding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r"/>
            <a:r>
              <a:rPr b="1" lang="en-US" sz="1500" spc="-1" strike="noStrike">
                <a:solidFill>
                  <a:srgbClr val="f8fafc"/>
                </a:solidFill>
                <a:latin typeface="Aptos"/>
              </a:rPr>
              <a:t>46 x 64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1926000" y="3193200"/>
            <a:ext cx="0" cy="126000"/>
          </a:xfrm>
          <a:prstGeom prst="line">
            <a:avLst/>
          </a:prstGeom>
          <a:ln w="19800">
            <a:solidFill>
              <a:srgbClr val="9cb4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720" rIns="99720" tIns="54720" bIns="547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522000" y="3348000"/>
            <a:ext cx="2808000" cy="331200"/>
          </a:xfrm>
          <a:prstGeom prst="rect">
            <a:avLst/>
          </a:prstGeom>
          <a:solidFill>
            <a:srgbClr val="10263a"/>
          </a:solidFill>
          <a:ln w="0">
            <a:solidFill>
              <a:srgbClr val="f59e0b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1500" spc="-1" strike="noStrike">
                <a:solidFill>
                  <a:srgbClr val="f8fafc"/>
                </a:solidFill>
                <a:latin typeface="Aptos"/>
              </a:rPr>
              <a:t>Position embedding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r"/>
            <a:r>
              <a:rPr b="1" lang="en-US" sz="1500" spc="-1" strike="noStrike">
                <a:solidFill>
                  <a:srgbClr val="f8fafc"/>
                </a:solidFill>
                <a:latin typeface="Aptos"/>
              </a:rPr>
              <a:t>256 x 64 learned absolute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4032000" y="1368000"/>
            <a:ext cx="3240000" cy="2232000"/>
          </a:xfrm>
          <a:prstGeom prst="rect">
            <a:avLst/>
          </a:prstGeom>
          <a:solidFill>
            <a:srgbClr val="0a1726"/>
          </a:solidFill>
          <a:ln w="0">
            <a:solidFill>
              <a:srgbClr val="f59e0b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4248000" y="1476000"/>
            <a:ext cx="1656000" cy="1548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64800" bIns="46800" anchor="t" anchorCtr="1">
            <a:noAutofit/>
          </a:bodyPr>
          <a:p>
            <a:r>
              <a:rPr b="1" lang="en-US" sz="1200" spc="-1" strike="noStrike">
                <a:solidFill>
                  <a:srgbClr val="f59e0b"/>
                </a:solidFill>
                <a:latin typeface="Aptos"/>
              </a:rPr>
              <a:t>ENCODER BLOCK X2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"/>
          <p:cNvSpPr/>
          <p:nvPr/>
        </p:nvSpPr>
        <p:spPr>
          <a:xfrm>
            <a:off x="4320000" y="1710000"/>
            <a:ext cx="2664000" cy="273600"/>
          </a:xfrm>
          <a:prstGeom prst="rect">
            <a:avLst/>
          </a:prstGeom>
          <a:solidFill>
            <a:srgbClr val="132f46"/>
          </a:solidFill>
          <a:ln w="0">
            <a:solidFill>
              <a:srgbClr val="31506a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1400" spc="-1" strike="noStrike">
                <a:solidFill>
                  <a:srgbClr val="f8fafc"/>
                </a:solidFill>
                <a:latin typeface="Aptos"/>
              </a:rPr>
              <a:t>Multi-head attention  |  4 heads, d_model=64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4320000" y="2142000"/>
            <a:ext cx="2664000" cy="273600"/>
          </a:xfrm>
          <a:prstGeom prst="rect">
            <a:avLst/>
          </a:prstGeom>
          <a:solidFill>
            <a:srgbClr val="132f46"/>
          </a:solidFill>
          <a:ln w="0">
            <a:solidFill>
              <a:srgbClr val="31506a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1400" spc="-1" strike="noStrike">
                <a:solidFill>
                  <a:srgbClr val="f8fafc"/>
                </a:solidFill>
                <a:latin typeface="Aptos"/>
              </a:rPr>
              <a:t>Add + LayerNorm  |  post-norm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4320000" y="2574000"/>
            <a:ext cx="2664000" cy="273600"/>
          </a:xfrm>
          <a:prstGeom prst="rect">
            <a:avLst/>
          </a:prstGeom>
          <a:solidFill>
            <a:srgbClr val="132f46"/>
          </a:solidFill>
          <a:ln w="0">
            <a:solidFill>
              <a:srgbClr val="31506a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1400" spc="-1" strike="noStrike">
                <a:solidFill>
                  <a:srgbClr val="f8fafc"/>
                </a:solidFill>
                <a:latin typeface="Aptos"/>
              </a:rPr>
              <a:t>Feed-forward  |  64 -&gt; 128 -&gt; 64, ReLU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4320000" y="3006000"/>
            <a:ext cx="2664000" cy="273600"/>
          </a:xfrm>
          <a:prstGeom prst="rect">
            <a:avLst/>
          </a:prstGeom>
          <a:solidFill>
            <a:srgbClr val="132f46"/>
          </a:solidFill>
          <a:ln w="0">
            <a:solidFill>
              <a:srgbClr val="31506a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1400" spc="-1" strike="noStrike">
                <a:solidFill>
                  <a:srgbClr val="f8fafc"/>
                </a:solidFill>
                <a:latin typeface="Aptos"/>
              </a:rPr>
              <a:t>Dropout  |  0.1 inside encoder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"/>
          <p:cNvSpPr/>
          <p:nvPr/>
        </p:nvSpPr>
        <p:spPr>
          <a:xfrm>
            <a:off x="7920000" y="1602000"/>
            <a:ext cx="2934000" cy="432000"/>
          </a:xfrm>
          <a:prstGeom prst="rect">
            <a:avLst/>
          </a:prstGeom>
          <a:solidFill>
            <a:srgbClr val="10263a"/>
          </a:solidFill>
          <a:ln w="0">
            <a:solidFill>
              <a:srgbClr val="ef4444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1600" spc="-1" strike="noStrike">
                <a:solidFill>
                  <a:srgbClr val="f8fafc"/>
                </a:solidFill>
                <a:latin typeface="Aptos"/>
              </a:rPr>
              <a:t>Masked mean pool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r"/>
            <a:r>
              <a:rPr b="1" lang="en-US" sz="1600" spc="-1" strike="noStrike">
                <a:solidFill>
                  <a:srgbClr val="f8fafc"/>
                </a:solidFill>
                <a:latin typeface="Aptos"/>
              </a:rPr>
              <a:t>non-PAD tokens only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r"/>
            <a:r>
              <a:rPr b="1" lang="en-US" sz="1600" spc="-1" strike="noStrike">
                <a:solidFill>
                  <a:srgbClr val="f8fafc"/>
                </a:solidFill>
                <a:latin typeface="Aptos"/>
              </a:rPr>
              <a:t>single 64d vector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9387000" y="2034000"/>
            <a:ext cx="0" cy="216000"/>
          </a:xfrm>
          <a:prstGeom prst="line">
            <a:avLst/>
          </a:prstGeom>
          <a:ln w="19800">
            <a:solidFill>
              <a:srgbClr val="9cb4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720" rIns="99720" tIns="54720" bIns="547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>
            <a:off x="7920000" y="2250000"/>
            <a:ext cx="2934000" cy="432000"/>
          </a:xfrm>
          <a:prstGeom prst="rect">
            <a:avLst/>
          </a:prstGeom>
          <a:solidFill>
            <a:srgbClr val="10263a"/>
          </a:solidFill>
          <a:ln w="0">
            <a:solidFill>
              <a:srgbClr val="f59e0b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1600" spc="-1" strike="noStrike">
                <a:solidFill>
                  <a:srgbClr val="f8fafc"/>
                </a:solidFill>
                <a:latin typeface="Aptos"/>
              </a:rPr>
              <a:t>Linear head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r"/>
            <a:r>
              <a:rPr b="1" lang="en-US" sz="1600" spc="-1" strike="noStrike">
                <a:solidFill>
                  <a:srgbClr val="f8fafc"/>
                </a:solidFill>
                <a:latin typeface="Aptos"/>
              </a:rPr>
              <a:t>64 -&gt; 1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r"/>
            <a:r>
              <a:rPr b="1" lang="en-US" sz="1600" spc="-1" strike="noStrike">
                <a:solidFill>
                  <a:srgbClr val="f8fafc"/>
                </a:solidFill>
                <a:latin typeface="Aptos"/>
              </a:rPr>
              <a:t>no head dropout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9387000" y="2682000"/>
            <a:ext cx="0" cy="216000"/>
          </a:xfrm>
          <a:prstGeom prst="line">
            <a:avLst/>
          </a:prstGeom>
          <a:ln w="19800">
            <a:solidFill>
              <a:srgbClr val="9cb4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720" rIns="99720" tIns="54720" bIns="547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"/>
          <p:cNvSpPr/>
          <p:nvPr/>
        </p:nvSpPr>
        <p:spPr>
          <a:xfrm>
            <a:off x="7920000" y="2898000"/>
            <a:ext cx="2934000" cy="432000"/>
          </a:xfrm>
          <a:prstGeom prst="rect">
            <a:avLst/>
          </a:prstGeom>
          <a:solidFill>
            <a:srgbClr val="10263a"/>
          </a:solidFill>
          <a:ln w="0">
            <a:solidFill>
              <a:srgbClr val="22c55e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1600" spc="-1" strike="noStrike">
                <a:solidFill>
                  <a:srgbClr val="f8fafc"/>
                </a:solidFill>
                <a:latin typeface="Aptos"/>
              </a:rPr>
              <a:t>Inverse scaler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r"/>
            <a:r>
              <a:rPr b="1" lang="en-US" sz="1600" spc="-1" strike="noStrike">
                <a:solidFill>
                  <a:srgbClr val="f8fafc"/>
                </a:solidFill>
                <a:latin typeface="Aptos"/>
              </a:rPr>
              <a:t>Tg prediction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r"/>
            <a:r>
              <a:rPr b="1" lang="en-US" sz="1600" spc="-1" strike="noStrike">
                <a:solidFill>
                  <a:srgbClr val="f8fafc"/>
                </a:solidFill>
                <a:latin typeface="Aptos"/>
              </a:rPr>
              <a:t>Kelvin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"/>
          <p:cNvSpPr/>
          <p:nvPr/>
        </p:nvSpPr>
        <p:spPr>
          <a:xfrm>
            <a:off x="3330000" y="2376000"/>
            <a:ext cx="702000" cy="0"/>
          </a:xfrm>
          <a:prstGeom prst="line">
            <a:avLst/>
          </a:prstGeom>
          <a:ln w="25200">
            <a:solidFill>
              <a:srgbClr val="9cb4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rIns="102600" tIns="-57600" bIns="-576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"/>
          <p:cNvSpPr/>
          <p:nvPr/>
        </p:nvSpPr>
        <p:spPr>
          <a:xfrm>
            <a:off x="7272000" y="2484000"/>
            <a:ext cx="648000" cy="0"/>
          </a:xfrm>
          <a:prstGeom prst="line">
            <a:avLst/>
          </a:prstGeom>
          <a:ln w="25200">
            <a:solidFill>
              <a:srgbClr val="9cb4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rIns="102600" tIns="-57600" bIns="-576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576000" y="4536000"/>
            <a:ext cx="3240000" cy="1044000"/>
          </a:xfrm>
          <a:prstGeom prst="rect">
            <a:avLst/>
          </a:prstGeom>
          <a:solidFill>
            <a:srgbClr val="10263a"/>
          </a:solidFill>
          <a:ln w="0">
            <a:solidFill>
              <a:srgbClr val="31506a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576000" y="4536000"/>
            <a:ext cx="64800" cy="1044000"/>
          </a:xfrm>
          <a:prstGeom prst="rect">
            <a:avLst/>
          </a:prstGeom>
          <a:solidFill>
            <a:srgbClr val="ef4444"/>
          </a:solidFill>
          <a:ln w="0">
            <a:solidFill>
              <a:srgbClr val="ef4444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"/>
          <p:cNvSpPr/>
          <p:nvPr/>
        </p:nvSpPr>
        <p:spPr>
          <a:xfrm>
            <a:off x="763200" y="4665600"/>
            <a:ext cx="2916000" cy="273600"/>
          </a:xfrm>
          <a:prstGeom prst="rect">
            <a:avLst/>
          </a:prstGeom>
          <a:solidFill>
            <a:srgbClr val="10263a"/>
          </a:solidFill>
          <a:ln w="0">
            <a:solidFill>
              <a:srgbClr val="10263a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700" spc="-1" strike="noStrike">
                <a:solidFill>
                  <a:srgbClr val="f8fafc"/>
                </a:solidFill>
                <a:latin typeface="Aptos"/>
              </a:rPr>
              <a:t>86,337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770400" y="4989600"/>
            <a:ext cx="2880000" cy="230400"/>
          </a:xfrm>
          <a:prstGeom prst="rect">
            <a:avLst/>
          </a:prstGeom>
          <a:solidFill>
            <a:srgbClr val="10263a"/>
          </a:solidFill>
          <a:ln w="0">
            <a:solidFill>
              <a:srgbClr val="10263a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400" spc="-1" strike="noStrike">
                <a:solidFill>
                  <a:srgbClr val="9cb4c8"/>
                </a:solidFill>
                <a:latin typeface="Aptos"/>
              </a:rPr>
              <a:t>parameters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"/>
          <p:cNvSpPr/>
          <p:nvPr/>
        </p:nvSpPr>
        <p:spPr>
          <a:xfrm>
            <a:off x="770400" y="5241600"/>
            <a:ext cx="2880000" cy="187200"/>
          </a:xfrm>
          <a:prstGeom prst="rect">
            <a:avLst/>
          </a:prstGeom>
          <a:solidFill>
            <a:srgbClr val="10263a"/>
          </a:solidFill>
          <a:ln w="0">
            <a:solidFill>
              <a:srgbClr val="10263a"/>
            </a:solidFill>
          </a:ln>
        </p:spPr>
        <p:txBody>
          <a:bodyPr lIns="162000" rIns="162000" tIns="97200" bIns="79200" anchor="t" anchorCtr="1">
            <a:noAutofit/>
          </a:bodyPr>
          <a:p>
            <a:r>
              <a:rPr b="0" lang="en-US" sz="1200" spc="-1" strike="noStrike">
                <a:solidFill>
                  <a:srgbClr val="ef4444"/>
                </a:solidFill>
                <a:latin typeface="Aptos"/>
              </a:rPr>
              <a:t>204 Tg training samples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"/>
          <p:cNvSpPr/>
          <p:nvPr/>
        </p:nvSpPr>
        <p:spPr>
          <a:xfrm>
            <a:off x="4374000" y="4536000"/>
            <a:ext cx="3240000" cy="1044000"/>
          </a:xfrm>
          <a:prstGeom prst="rect">
            <a:avLst/>
          </a:prstGeom>
          <a:solidFill>
            <a:srgbClr val="10263a"/>
          </a:solidFill>
          <a:ln w="0">
            <a:solidFill>
              <a:srgbClr val="31506a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4374000" y="4536000"/>
            <a:ext cx="64800" cy="10440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"/>
          <p:cNvSpPr/>
          <p:nvPr/>
        </p:nvSpPr>
        <p:spPr>
          <a:xfrm>
            <a:off x="4561200" y="4665600"/>
            <a:ext cx="2916000" cy="273600"/>
          </a:xfrm>
          <a:prstGeom prst="rect">
            <a:avLst/>
          </a:prstGeom>
          <a:solidFill>
            <a:srgbClr val="10263a"/>
          </a:solidFill>
          <a:ln w="0">
            <a:solidFill>
              <a:srgbClr val="10263a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700" spc="-1" strike="noStrike">
                <a:solidFill>
                  <a:srgbClr val="f8fafc"/>
                </a:solidFill>
                <a:latin typeface="Aptos"/>
              </a:rPr>
              <a:t>1/L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4568400" y="4989600"/>
            <a:ext cx="2880000" cy="230400"/>
          </a:xfrm>
          <a:prstGeom prst="rect">
            <a:avLst/>
          </a:prstGeom>
          <a:solidFill>
            <a:srgbClr val="10263a"/>
          </a:solidFill>
          <a:ln w="0">
            <a:solidFill>
              <a:srgbClr val="10263a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400" spc="-1" strike="noStrike">
                <a:solidFill>
                  <a:srgbClr val="9cb4c8"/>
                </a:solidFill>
                <a:latin typeface="Aptos"/>
              </a:rPr>
              <a:t>mean-pool dilution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>
            <a:off x="4568400" y="5241600"/>
            <a:ext cx="2880000" cy="187200"/>
          </a:xfrm>
          <a:prstGeom prst="rect">
            <a:avLst/>
          </a:prstGeom>
          <a:solidFill>
            <a:srgbClr val="10263a"/>
          </a:solidFill>
          <a:ln w="0">
            <a:solidFill>
              <a:srgbClr val="10263a"/>
            </a:solidFill>
          </a:ln>
        </p:spPr>
        <p:txBody>
          <a:bodyPr lIns="162000" rIns="162000" tIns="97200" bIns="79200" anchor="t" anchorCtr="1">
            <a:noAutofit/>
          </a:bodyPr>
          <a:p>
            <a:r>
              <a:rPr b="0" lang="en-US" sz="1200" spc="-1" strike="noStrike">
                <a:solidFill>
                  <a:srgbClr val="f59e0b"/>
                </a:solidFill>
                <a:latin typeface="Aptos"/>
              </a:rPr>
              <a:t>confirmed by drift correlation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>
            <a:off x="8172000" y="4536000"/>
            <a:ext cx="2664000" cy="1044000"/>
          </a:xfrm>
          <a:prstGeom prst="rect">
            <a:avLst/>
          </a:prstGeom>
          <a:solidFill>
            <a:srgbClr val="10263a"/>
          </a:solidFill>
          <a:ln w="0">
            <a:solidFill>
              <a:srgbClr val="31506a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"/>
          <p:cNvSpPr/>
          <p:nvPr/>
        </p:nvSpPr>
        <p:spPr>
          <a:xfrm>
            <a:off x="8172000" y="4536000"/>
            <a:ext cx="64800" cy="1044000"/>
          </a:xfrm>
          <a:prstGeom prst="rect">
            <a:avLst/>
          </a:prstGeom>
          <a:solidFill>
            <a:srgbClr val="38bdf8"/>
          </a:solidFill>
          <a:ln w="0">
            <a:solidFill>
              <a:srgbClr val="38bdf8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8359200" y="4665600"/>
            <a:ext cx="2340000" cy="273600"/>
          </a:xfrm>
          <a:prstGeom prst="rect">
            <a:avLst/>
          </a:prstGeom>
          <a:solidFill>
            <a:srgbClr val="10263a"/>
          </a:solidFill>
          <a:ln w="0">
            <a:solidFill>
              <a:srgbClr val="10263a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700" spc="-1" strike="noStrike">
                <a:solidFill>
                  <a:srgbClr val="f8fafc"/>
                </a:solidFill>
                <a:latin typeface="Aptos"/>
              </a:rPr>
              <a:t>No CLS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>
            <a:off x="8366400" y="4989600"/>
            <a:ext cx="2304000" cy="230400"/>
          </a:xfrm>
          <a:prstGeom prst="rect">
            <a:avLst/>
          </a:prstGeom>
          <a:solidFill>
            <a:srgbClr val="10263a"/>
          </a:solidFill>
          <a:ln w="0">
            <a:solidFill>
              <a:srgbClr val="10263a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400" spc="-1" strike="noStrike">
                <a:solidFill>
                  <a:srgbClr val="9cb4c8"/>
                </a:solidFill>
                <a:latin typeface="Aptos"/>
              </a:rPr>
              <a:t>active pooling path is mean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8366400" y="5241600"/>
            <a:ext cx="2304000" cy="187200"/>
          </a:xfrm>
          <a:prstGeom prst="rect">
            <a:avLst/>
          </a:prstGeom>
          <a:solidFill>
            <a:srgbClr val="10263a"/>
          </a:solidFill>
          <a:ln w="0">
            <a:solidFill>
              <a:srgbClr val="10263a"/>
            </a:solidFill>
          </a:ln>
        </p:spPr>
        <p:txBody>
          <a:bodyPr lIns="162000" rIns="162000" tIns="97200" bIns="79200" anchor="t" anchorCtr="1">
            <a:noAutofit/>
          </a:bodyPr>
          <a:p>
            <a:r>
              <a:rPr b="0" lang="en-US" sz="1200" spc="-1" strike="noStrike">
                <a:solidFill>
                  <a:srgbClr val="38bdf8"/>
                </a:solidFill>
                <a:latin typeface="Aptos"/>
              </a:rPr>
              <a:t>CLS code exists but unused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"/>
          <p:cNvSpPr/>
          <p:nvPr/>
        </p:nvSpPr>
        <p:spPr>
          <a:xfrm>
            <a:off x="0" y="0"/>
            <a:ext cx="11988000" cy="6732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0" y="0"/>
            <a:ext cx="151200" cy="6732000"/>
          </a:xfrm>
          <a:prstGeom prst="rect">
            <a:avLst/>
          </a:prstGeom>
          <a:solidFill>
            <a:srgbClr val="0c2a3f"/>
          </a:solidFill>
          <a:ln w="0">
            <a:solidFill>
              <a:srgbClr val="0c2a3f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"/>
          <p:cNvSpPr/>
          <p:nvPr/>
        </p:nvSpPr>
        <p:spPr>
          <a:xfrm>
            <a:off x="378000" y="216000"/>
            <a:ext cx="11088000" cy="324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700" spc="-1" strike="noStrike">
                <a:solidFill>
                  <a:srgbClr val="f8fafc"/>
                </a:solidFill>
                <a:latin typeface="Aptos"/>
              </a:rPr>
              <a:t>Attack And Evaluation Pipeline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"/>
          <p:cNvSpPr/>
          <p:nvPr/>
        </p:nvSpPr>
        <p:spPr>
          <a:xfrm>
            <a:off x="388800" y="554400"/>
            <a:ext cx="8208000" cy="216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400" spc="-1" strike="noStrike">
                <a:solidFill>
                  <a:srgbClr val="9cb4c8"/>
                </a:solidFill>
                <a:latin typeface="Aptos"/>
              </a:rPr>
              <a:t>Valid candidates only, but validity is not the same as label preservation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"/>
          <p:cNvSpPr/>
          <p:nvPr/>
        </p:nvSpPr>
        <p:spPr>
          <a:xfrm>
            <a:off x="378000" y="835200"/>
            <a:ext cx="1548000" cy="216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txBody>
          <a:bodyPr lIns="90000" rIns="90000" tIns="-23400" bIns="-234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"/>
          <p:cNvSpPr/>
          <p:nvPr/>
        </p:nvSpPr>
        <p:spPr>
          <a:xfrm>
            <a:off x="1962000" y="835200"/>
            <a:ext cx="9504000" cy="6480"/>
          </a:xfrm>
          <a:prstGeom prst="rect">
            <a:avLst/>
          </a:prstGeom>
          <a:solidFill>
            <a:srgbClr val="31506a"/>
          </a:solidFill>
          <a:ln w="0">
            <a:solidFill>
              <a:srgbClr val="31506a"/>
            </a:solidFill>
          </a:ln>
        </p:spPr>
        <p:txBody>
          <a:bodyPr lIns="90000" rIns="90000" tIns="-38520" bIns="-385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"/>
          <p:cNvSpPr/>
          <p:nvPr/>
        </p:nvSpPr>
        <p:spPr>
          <a:xfrm>
            <a:off x="10512000" y="6278400"/>
            <a:ext cx="900000" cy="1512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61200" bIns="43200" anchor="t" anchorCtr="1">
            <a:noAutofit/>
          </a:bodyPr>
          <a:p>
            <a:pPr algn="just"/>
            <a:r>
              <a:rPr b="1" lang="en-US" sz="1100" spc="-1" strike="noStrike">
                <a:solidFill>
                  <a:srgbClr val="9cb4c8"/>
                </a:solidFill>
                <a:latin typeface="Aptos"/>
              </a:rPr>
              <a:t>11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"/>
          <p:cNvSpPr/>
          <p:nvPr/>
        </p:nvSpPr>
        <p:spPr>
          <a:xfrm>
            <a:off x="378000" y="6278400"/>
            <a:ext cx="4248000" cy="1512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61200" bIns="43200" anchor="t" anchorCtr="1">
            <a:noAutofit/>
          </a:bodyPr>
          <a:p>
            <a:r>
              <a:rPr b="0" lang="en-US" sz="1000" spc="-1" strike="noStrike">
                <a:solidFill>
                  <a:srgbClr val="6f879a"/>
                </a:solidFill>
                <a:latin typeface="Aptos"/>
              </a:rPr>
              <a:t>Materials adversarial learning forensic review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"/>
          <p:cNvSpPr/>
          <p:nvPr/>
        </p:nvSpPr>
        <p:spPr>
          <a:xfrm>
            <a:off x="432000" y="1296000"/>
            <a:ext cx="5040000" cy="3672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9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1900" spc="-1" strike="noStrike">
                <a:solidFill>
                  <a:srgbClr val="f8fafc"/>
                </a:solidFill>
                <a:latin typeface="Aptos"/>
              </a:rPr>
              <a:t>Attack families: substitution, rearrangement, insertion, deletion, randomization/MCMC infrastructure.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1900" spc="-1" strike="noStrike">
                <a:solidFill>
                  <a:srgbClr val="f8fafc"/>
                </a:solidFill>
                <a:latin typeface="Aptos"/>
              </a:rPr>
              <a:t>Candidates pass token-role protections, RDKit parsing, plausibility filters, and prediction drift scoring.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1900" spc="-1" strike="noStrike">
                <a:solidFill>
                  <a:srgbClr val="f8fafc"/>
                </a:solidFill>
                <a:latin typeface="Aptos"/>
              </a:rPr>
              <a:t>Phase 2B symmetrical evaluation used identical candidate sets for baseline and defended models.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1900" spc="-1" strike="noStrike">
                <a:solidFill>
                  <a:srgbClr val="f8fafc"/>
                </a:solidFill>
                <a:latin typeface="Aptos"/>
              </a:rPr>
              <a:t>Threshold in Tg audit: 52.02 K, equal to Phase 1 test MAE, but the test set has only 6 samples.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"/>
          <p:cNvSpPr/>
          <p:nvPr/>
        </p:nvSpPr>
        <p:spPr>
          <a:xfrm>
            <a:off x="6264000" y="1368000"/>
            <a:ext cx="3744000" cy="414000"/>
          </a:xfrm>
          <a:prstGeom prst="rect">
            <a:avLst/>
          </a:prstGeom>
          <a:solidFill>
            <a:srgbClr val="102b42"/>
          </a:solidFill>
          <a:ln w="0">
            <a:solidFill>
              <a:srgbClr val="22c55e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1900" spc="-1" strike="noStrike">
                <a:solidFill>
                  <a:srgbClr val="f8fafc"/>
                </a:solidFill>
                <a:latin typeface="Aptos"/>
              </a:rPr>
              <a:t>candidate sets identical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  <a:p>
            <a:r>
              <a:rPr b="1" lang="en-US" sz="1900" spc="-1" strike="noStrike">
                <a:solidFill>
                  <a:srgbClr val="f8fafc"/>
                </a:solidFill>
                <a:latin typeface="Aptos"/>
              </a:rPr>
              <a:t>true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6264000" y="2034000"/>
            <a:ext cx="3744000" cy="414000"/>
          </a:xfrm>
          <a:prstGeom prst="rect">
            <a:avLst/>
          </a:prstGeom>
          <a:solidFill>
            <a:srgbClr val="102b42"/>
          </a:solidFill>
          <a:ln w="0">
            <a:solidFill>
              <a:srgbClr val="38bdf8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1900" spc="-1" strike="noStrike">
                <a:solidFill>
                  <a:srgbClr val="f8fafc"/>
                </a:solidFill>
                <a:latin typeface="Aptos"/>
              </a:rPr>
              <a:t>Phase 2B candidates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  <a:p>
            <a:r>
              <a:rPr b="1" lang="en-US" sz="1900" spc="-1" strike="noStrike">
                <a:solidFill>
                  <a:srgbClr val="f8fafc"/>
                </a:solidFill>
                <a:latin typeface="Aptos"/>
              </a:rPr>
              <a:t>651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6264000" y="2700000"/>
            <a:ext cx="3744000" cy="414000"/>
          </a:xfrm>
          <a:prstGeom prst="rect">
            <a:avLst/>
          </a:prstGeom>
          <a:solidFill>
            <a:srgbClr val="102b42"/>
          </a:solidFill>
          <a:ln w="0">
            <a:solidFill>
              <a:srgbClr val="38bdf8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1900" spc="-1" strike="noStrike">
                <a:solidFill>
                  <a:srgbClr val="f8fafc"/>
                </a:solidFill>
                <a:latin typeface="Aptos"/>
              </a:rPr>
              <a:t>unique candidates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  <a:p>
            <a:r>
              <a:rPr b="1" lang="en-US" sz="1900" spc="-1" strike="noStrike">
                <a:solidFill>
                  <a:srgbClr val="f8fafc"/>
                </a:solidFill>
                <a:latin typeface="Aptos"/>
              </a:rPr>
              <a:t>651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"/>
          <p:cNvSpPr/>
          <p:nvPr/>
        </p:nvSpPr>
        <p:spPr>
          <a:xfrm>
            <a:off x="6264000" y="3366000"/>
            <a:ext cx="3744000" cy="414000"/>
          </a:xfrm>
          <a:prstGeom prst="rect">
            <a:avLst/>
          </a:prstGeom>
          <a:solidFill>
            <a:srgbClr val="102b42"/>
          </a:solidFill>
          <a:ln w="0">
            <a:solidFill>
              <a:srgbClr val="38bdf8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1900" spc="-1" strike="noStrike">
                <a:solidFill>
                  <a:srgbClr val="f8fafc"/>
                </a:solidFill>
                <a:latin typeface="Aptos"/>
              </a:rPr>
              <a:t>overlap with old Phase 1E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  <a:p>
            <a:r>
              <a:rPr b="1" lang="en-US" sz="1900" spc="-1" strike="noStrike">
                <a:solidFill>
                  <a:srgbClr val="f8fafc"/>
                </a:solidFill>
                <a:latin typeface="Aptos"/>
              </a:rPr>
              <a:t>21.97%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"/>
          <p:cNvSpPr/>
          <p:nvPr/>
        </p:nvSpPr>
        <p:spPr>
          <a:xfrm>
            <a:off x="0" y="0"/>
            <a:ext cx="11988000" cy="6732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"/>
          <p:cNvSpPr/>
          <p:nvPr/>
        </p:nvSpPr>
        <p:spPr>
          <a:xfrm>
            <a:off x="0" y="0"/>
            <a:ext cx="151200" cy="6732000"/>
          </a:xfrm>
          <a:prstGeom prst="rect">
            <a:avLst/>
          </a:prstGeom>
          <a:solidFill>
            <a:srgbClr val="0c2a3f"/>
          </a:solidFill>
          <a:ln w="0">
            <a:solidFill>
              <a:srgbClr val="0c2a3f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"/>
          <p:cNvSpPr/>
          <p:nvPr/>
        </p:nvSpPr>
        <p:spPr>
          <a:xfrm>
            <a:off x="378000" y="216000"/>
            <a:ext cx="11088000" cy="324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700" spc="-1" strike="noStrike">
                <a:solidFill>
                  <a:srgbClr val="f8fafc"/>
                </a:solidFill>
                <a:latin typeface="Aptos"/>
              </a:rPr>
              <a:t>03 / Evidence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"/>
          <p:cNvSpPr/>
          <p:nvPr/>
        </p:nvSpPr>
        <p:spPr>
          <a:xfrm>
            <a:off x="378000" y="835200"/>
            <a:ext cx="1548000" cy="216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txBody>
          <a:bodyPr lIns="90000" rIns="90000" tIns="-23400" bIns="-234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"/>
          <p:cNvSpPr/>
          <p:nvPr/>
        </p:nvSpPr>
        <p:spPr>
          <a:xfrm>
            <a:off x="1962000" y="835200"/>
            <a:ext cx="9504000" cy="6480"/>
          </a:xfrm>
          <a:prstGeom prst="rect">
            <a:avLst/>
          </a:prstGeom>
          <a:solidFill>
            <a:srgbClr val="31506a"/>
          </a:solidFill>
          <a:ln w="0">
            <a:solidFill>
              <a:srgbClr val="31506a"/>
            </a:solidFill>
          </a:ln>
        </p:spPr>
        <p:txBody>
          <a:bodyPr lIns="90000" rIns="90000" tIns="-38520" bIns="-385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"/>
          <p:cNvSpPr/>
          <p:nvPr/>
        </p:nvSpPr>
        <p:spPr>
          <a:xfrm>
            <a:off x="10512000" y="6278400"/>
            <a:ext cx="900000" cy="1512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61200" bIns="43200" anchor="t" anchorCtr="1">
            <a:noAutofit/>
          </a:bodyPr>
          <a:p>
            <a:pPr algn="just"/>
            <a:r>
              <a:rPr b="1" lang="en-US" sz="1100" spc="-1" strike="noStrike">
                <a:solidFill>
                  <a:srgbClr val="9cb4c8"/>
                </a:solidFill>
                <a:latin typeface="Aptos"/>
              </a:rPr>
              <a:t>12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"/>
          <p:cNvSpPr/>
          <p:nvPr/>
        </p:nvSpPr>
        <p:spPr>
          <a:xfrm>
            <a:off x="378000" y="6278400"/>
            <a:ext cx="4248000" cy="1512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61200" bIns="43200" anchor="t" anchorCtr="1">
            <a:noAutofit/>
          </a:bodyPr>
          <a:p>
            <a:r>
              <a:rPr b="0" lang="en-US" sz="1000" spc="-1" strike="noStrike">
                <a:solidFill>
                  <a:srgbClr val="6f879a"/>
                </a:solidFill>
                <a:latin typeface="Aptos"/>
              </a:rPr>
              <a:t>Materials adversarial learning forensic review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"/>
          <p:cNvSpPr/>
          <p:nvPr/>
        </p:nvSpPr>
        <p:spPr>
          <a:xfrm>
            <a:off x="648000" y="1908000"/>
            <a:ext cx="10260000" cy="1404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3400" spc="-1" strike="noStrike">
                <a:solidFill>
                  <a:srgbClr val="f8fafc"/>
                </a:solidFill>
                <a:latin typeface="Aptos"/>
              </a:rPr>
              <a:t>The strongest results are forensic, not promotional.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"/>
          <p:cNvSpPr/>
          <p:nvPr/>
        </p:nvSpPr>
        <p:spPr>
          <a:xfrm>
            <a:off x="1620000" y="3528000"/>
            <a:ext cx="8280000" cy="432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0" lang="en-US" sz="1900" spc="-1" strike="noStrike">
                <a:solidFill>
                  <a:srgbClr val="9cb4c8"/>
                </a:solidFill>
                <a:latin typeface="Aptos"/>
              </a:rPr>
              <a:t>The useful finding is not that every early claim was right. It is that the audit identifies exactly which claims survive.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"/>
          <p:cNvSpPr/>
          <p:nvPr/>
        </p:nvSpPr>
        <p:spPr>
          <a:xfrm>
            <a:off x="2952000" y="4230000"/>
            <a:ext cx="6048000" cy="288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txBody>
          <a:bodyPr lIns="90000" rIns="90000" tIns="-16200" bIns="-162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"/>
          <p:cNvSpPr/>
          <p:nvPr/>
        </p:nvSpPr>
        <p:spPr>
          <a:xfrm>
            <a:off x="0" y="0"/>
            <a:ext cx="11988000" cy="6732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"/>
          <p:cNvSpPr/>
          <p:nvPr/>
        </p:nvSpPr>
        <p:spPr>
          <a:xfrm>
            <a:off x="0" y="0"/>
            <a:ext cx="151200" cy="6732000"/>
          </a:xfrm>
          <a:prstGeom prst="rect">
            <a:avLst/>
          </a:prstGeom>
          <a:solidFill>
            <a:srgbClr val="0c2a3f"/>
          </a:solidFill>
          <a:ln w="0">
            <a:solidFill>
              <a:srgbClr val="0c2a3f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"/>
          <p:cNvSpPr/>
          <p:nvPr/>
        </p:nvSpPr>
        <p:spPr>
          <a:xfrm>
            <a:off x="378000" y="216000"/>
            <a:ext cx="11088000" cy="324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700" spc="-1" strike="noStrike">
                <a:solidFill>
                  <a:srgbClr val="f8fafc"/>
                </a:solidFill>
                <a:latin typeface="Aptos"/>
              </a:rPr>
              <a:t>Baseline Findings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"/>
          <p:cNvSpPr/>
          <p:nvPr/>
        </p:nvSpPr>
        <p:spPr>
          <a:xfrm>
            <a:off x="388800" y="554400"/>
            <a:ext cx="8208000" cy="216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400" spc="-1" strike="noStrike">
                <a:solidFill>
                  <a:srgbClr val="9cb4c8"/>
                </a:solidFill>
                <a:latin typeface="Aptos"/>
              </a:rPr>
              <a:t>The model is unstable, but clean performance is fragile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"/>
          <p:cNvSpPr/>
          <p:nvPr/>
        </p:nvSpPr>
        <p:spPr>
          <a:xfrm>
            <a:off x="378000" y="835200"/>
            <a:ext cx="1548000" cy="216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txBody>
          <a:bodyPr lIns="90000" rIns="90000" tIns="-23400" bIns="-234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"/>
          <p:cNvSpPr/>
          <p:nvPr/>
        </p:nvSpPr>
        <p:spPr>
          <a:xfrm>
            <a:off x="1962000" y="835200"/>
            <a:ext cx="9504000" cy="6480"/>
          </a:xfrm>
          <a:prstGeom prst="rect">
            <a:avLst/>
          </a:prstGeom>
          <a:solidFill>
            <a:srgbClr val="31506a"/>
          </a:solidFill>
          <a:ln w="0">
            <a:solidFill>
              <a:srgbClr val="31506a"/>
            </a:solidFill>
          </a:ln>
        </p:spPr>
        <p:txBody>
          <a:bodyPr lIns="90000" rIns="90000" tIns="-38520" bIns="-385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"/>
          <p:cNvSpPr/>
          <p:nvPr/>
        </p:nvSpPr>
        <p:spPr>
          <a:xfrm>
            <a:off x="10512000" y="6278400"/>
            <a:ext cx="900000" cy="1512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61200" bIns="43200" anchor="t" anchorCtr="1">
            <a:noAutofit/>
          </a:bodyPr>
          <a:p>
            <a:pPr algn="just"/>
            <a:r>
              <a:rPr b="1" lang="en-US" sz="1100" spc="-1" strike="noStrike">
                <a:solidFill>
                  <a:srgbClr val="9cb4c8"/>
                </a:solidFill>
                <a:latin typeface="Aptos"/>
              </a:rPr>
              <a:t>13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"/>
          <p:cNvSpPr/>
          <p:nvPr/>
        </p:nvSpPr>
        <p:spPr>
          <a:xfrm>
            <a:off x="378000" y="6278400"/>
            <a:ext cx="4248000" cy="1512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61200" bIns="43200" anchor="t" anchorCtr="1">
            <a:noAutofit/>
          </a:bodyPr>
          <a:p>
            <a:r>
              <a:rPr b="0" lang="en-US" sz="1000" spc="-1" strike="noStrike">
                <a:solidFill>
                  <a:srgbClr val="6f879a"/>
                </a:solidFill>
                <a:latin typeface="Aptos"/>
              </a:rPr>
              <a:t>Materials adversarial learning forensic review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"/>
          <p:cNvSpPr/>
          <p:nvPr/>
        </p:nvSpPr>
        <p:spPr>
          <a:xfrm>
            <a:off x="468000" y="1260000"/>
            <a:ext cx="5112000" cy="3348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20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000" spc="-1" strike="noStrike">
                <a:solidFill>
                  <a:srgbClr val="f8fafc"/>
                </a:solidFill>
                <a:latin typeface="Aptos"/>
              </a:rPr>
              <a:t>Tg Phase 1 baseline validation MAE: 79.04 K; test MAE: 52.02 K.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0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000" spc="-1" strike="noStrike">
                <a:solidFill>
                  <a:srgbClr val="f8fafc"/>
                </a:solidFill>
                <a:latin typeface="Aptos"/>
              </a:rPr>
              <a:t>Validation R²: -0.150; test R²: -4.246.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0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000" spc="-1" strike="noStrike">
                <a:solidFill>
                  <a:srgbClr val="f8fafc"/>
                </a:solidFill>
                <a:latin typeface="Aptos"/>
              </a:rPr>
              <a:t>The negative R² values mean clean predictive claims are weak in this Tg split.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0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000" spc="-1" strike="noStrike">
                <a:solidFill>
                  <a:srgbClr val="f8fafc"/>
                </a:solidFill>
                <a:latin typeface="Aptos"/>
              </a:rPr>
              <a:t>The model still exhibits real prediction drift under token perturbations.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"/>
          <p:cNvSpPr/>
          <p:nvPr/>
        </p:nvSpPr>
        <p:spPr>
          <a:xfrm>
            <a:off x="6264000" y="1548000"/>
            <a:ext cx="4320000" cy="1800000"/>
          </a:xfrm>
          <a:prstGeom prst="rect">
            <a:avLst/>
          </a:prstGeom>
          <a:solidFill>
            <a:srgbClr val="13283a"/>
          </a:solidFill>
          <a:ln w="0">
            <a:solidFill>
              <a:srgbClr val="f59e0b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300" spc="-1" strike="noStrike">
                <a:solidFill>
                  <a:srgbClr val="f8fafc"/>
                </a:solidFill>
                <a:latin typeface="Aptos"/>
              </a:rPr>
              <a:t>Interpretation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  <a:p>
            <a:r>
              <a:rPr b="1" lang="en-US" sz="2300" spc="-1" strike="noStrike">
                <a:solidFill>
                  <a:srgbClr val="f8fafc"/>
                </a:solidFill>
                <a:latin typeface="Aptos"/>
              </a:rPr>
              <a:t>The audit preserves the vulnerability finding but downgrades the explanation: unstable model behavior is real; the causal story was wrong.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"/>
          <p:cNvSpPr/>
          <p:nvPr/>
        </p:nvSpPr>
        <p:spPr>
          <a:xfrm>
            <a:off x="0" y="0"/>
            <a:ext cx="11988000" cy="6732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>
            <a:off x="0" y="0"/>
            <a:ext cx="151200" cy="6732000"/>
          </a:xfrm>
          <a:prstGeom prst="rect">
            <a:avLst/>
          </a:prstGeom>
          <a:solidFill>
            <a:srgbClr val="0c2a3f"/>
          </a:solidFill>
          <a:ln w="0">
            <a:solidFill>
              <a:srgbClr val="0c2a3f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"/>
          <p:cNvSpPr/>
          <p:nvPr/>
        </p:nvSpPr>
        <p:spPr>
          <a:xfrm>
            <a:off x="378000" y="216000"/>
            <a:ext cx="11088000" cy="324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700" spc="-1" strike="noStrike">
                <a:solidFill>
                  <a:srgbClr val="f8fafc"/>
                </a:solidFill>
                <a:latin typeface="Aptos"/>
              </a:rPr>
              <a:t>Forensic Result 1: Length Claim Refuted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"/>
          <p:cNvSpPr/>
          <p:nvPr/>
        </p:nvSpPr>
        <p:spPr>
          <a:xfrm>
            <a:off x="388800" y="554400"/>
            <a:ext cx="8208000" cy="216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400" spc="-1" strike="noStrike">
                <a:solidFill>
                  <a:srgbClr val="9cb4c8"/>
                </a:solidFill>
                <a:latin typeface="Aptos"/>
              </a:rPr>
              <a:t>Length-preserving controls drift as much as length-changing edits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"/>
          <p:cNvSpPr/>
          <p:nvPr/>
        </p:nvSpPr>
        <p:spPr>
          <a:xfrm>
            <a:off x="378000" y="835200"/>
            <a:ext cx="1548000" cy="216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txBody>
          <a:bodyPr lIns="90000" rIns="90000" tIns="-23400" bIns="-234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"/>
          <p:cNvSpPr/>
          <p:nvPr/>
        </p:nvSpPr>
        <p:spPr>
          <a:xfrm>
            <a:off x="1962000" y="835200"/>
            <a:ext cx="9504000" cy="6480"/>
          </a:xfrm>
          <a:prstGeom prst="rect">
            <a:avLst/>
          </a:prstGeom>
          <a:solidFill>
            <a:srgbClr val="31506a"/>
          </a:solidFill>
          <a:ln w="0">
            <a:solidFill>
              <a:srgbClr val="31506a"/>
            </a:solidFill>
          </a:ln>
        </p:spPr>
        <p:txBody>
          <a:bodyPr lIns="90000" rIns="90000" tIns="-38520" bIns="-385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"/>
          <p:cNvSpPr/>
          <p:nvPr/>
        </p:nvSpPr>
        <p:spPr>
          <a:xfrm>
            <a:off x="10512000" y="6278400"/>
            <a:ext cx="900000" cy="1512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61200" bIns="43200" anchor="t" anchorCtr="1">
            <a:noAutofit/>
          </a:bodyPr>
          <a:p>
            <a:pPr algn="just"/>
            <a:r>
              <a:rPr b="1" lang="en-US" sz="1100" spc="-1" strike="noStrike">
                <a:solidFill>
                  <a:srgbClr val="9cb4c8"/>
                </a:solidFill>
                <a:latin typeface="Aptos"/>
              </a:rPr>
              <a:t>14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"/>
          <p:cNvSpPr/>
          <p:nvPr/>
        </p:nvSpPr>
        <p:spPr>
          <a:xfrm>
            <a:off x="378000" y="6278400"/>
            <a:ext cx="4248000" cy="1512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61200" bIns="43200" anchor="t" anchorCtr="1">
            <a:noAutofit/>
          </a:bodyPr>
          <a:p>
            <a:r>
              <a:rPr b="0" lang="en-US" sz="1000" spc="-1" strike="noStrike">
                <a:solidFill>
                  <a:srgbClr val="6f879a"/>
                </a:solidFill>
                <a:latin typeface="Aptos"/>
              </a:rPr>
              <a:t>Materials adversarial learning forensic review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"/>
          <p:cNvSpPr/>
          <p:nvPr/>
        </p:nvSpPr>
        <p:spPr>
          <a:xfrm>
            <a:off x="792000" y="1548000"/>
            <a:ext cx="1872000" cy="2016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500" spc="-1" strike="noStrike">
                <a:solidFill>
                  <a:srgbClr val="f8fafc"/>
                </a:solidFill>
                <a:latin typeface="Aptos"/>
              </a:rPr>
              <a:t>shuffle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"/>
          <p:cNvSpPr/>
          <p:nvPr/>
        </p:nvSpPr>
        <p:spPr>
          <a:xfrm>
            <a:off x="2736000" y="1580400"/>
            <a:ext cx="2232000" cy="115200"/>
          </a:xfrm>
          <a:prstGeom prst="rect">
            <a:avLst/>
          </a:prstGeom>
          <a:solidFill>
            <a:srgbClr val="12283b"/>
          </a:solidFill>
          <a:ln w="0">
            <a:solidFill>
              <a:srgbClr val="12283b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"/>
          <p:cNvSpPr/>
          <p:nvPr/>
        </p:nvSpPr>
        <p:spPr>
          <a:xfrm>
            <a:off x="2736000" y="1580400"/>
            <a:ext cx="1702800" cy="115200"/>
          </a:xfrm>
          <a:prstGeom prst="rect">
            <a:avLst/>
          </a:prstGeom>
          <a:solidFill>
            <a:srgbClr val="ef4444"/>
          </a:solidFill>
          <a:ln w="0">
            <a:solidFill>
              <a:srgbClr val="ef4444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"/>
          <p:cNvSpPr/>
          <p:nvPr/>
        </p:nvSpPr>
        <p:spPr>
          <a:xfrm>
            <a:off x="5040000" y="1533600"/>
            <a:ext cx="648000" cy="1872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97200" bIns="79200" anchor="t" anchorCtr="1">
            <a:noAutofit/>
          </a:bodyPr>
          <a:p>
            <a:r>
              <a:rPr b="1" lang="en-US" sz="1500" spc="-1" strike="noStrike">
                <a:solidFill>
                  <a:srgbClr val="f8fafc"/>
                </a:solidFill>
                <a:latin typeface="Aptos"/>
              </a:rPr>
              <a:t>32.05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"/>
          <p:cNvSpPr/>
          <p:nvPr/>
        </p:nvSpPr>
        <p:spPr>
          <a:xfrm>
            <a:off x="792000" y="2088000"/>
            <a:ext cx="1872000" cy="2016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500" spc="-1" strike="noStrike">
                <a:solidFill>
                  <a:srgbClr val="f8fafc"/>
                </a:solidFill>
                <a:latin typeface="Aptos"/>
              </a:rPr>
              <a:t>reverse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"/>
          <p:cNvSpPr/>
          <p:nvPr/>
        </p:nvSpPr>
        <p:spPr>
          <a:xfrm>
            <a:off x="2736000" y="2120400"/>
            <a:ext cx="2232000" cy="115200"/>
          </a:xfrm>
          <a:prstGeom prst="rect">
            <a:avLst/>
          </a:prstGeom>
          <a:solidFill>
            <a:srgbClr val="12283b"/>
          </a:solidFill>
          <a:ln w="0">
            <a:solidFill>
              <a:srgbClr val="12283b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"/>
          <p:cNvSpPr/>
          <p:nvPr/>
        </p:nvSpPr>
        <p:spPr>
          <a:xfrm>
            <a:off x="2736000" y="2120400"/>
            <a:ext cx="1617480" cy="115200"/>
          </a:xfrm>
          <a:prstGeom prst="rect">
            <a:avLst/>
          </a:prstGeom>
          <a:solidFill>
            <a:srgbClr val="ef4444"/>
          </a:solidFill>
          <a:ln w="0">
            <a:solidFill>
              <a:srgbClr val="ef4444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"/>
          <p:cNvSpPr/>
          <p:nvPr/>
        </p:nvSpPr>
        <p:spPr>
          <a:xfrm>
            <a:off x="5040000" y="2073600"/>
            <a:ext cx="648000" cy="1872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97200" bIns="79200" anchor="t" anchorCtr="1">
            <a:noAutofit/>
          </a:bodyPr>
          <a:p>
            <a:r>
              <a:rPr b="1" lang="en-US" sz="1500" spc="-1" strike="noStrike">
                <a:solidFill>
                  <a:srgbClr val="f8fafc"/>
                </a:solidFill>
                <a:latin typeface="Aptos"/>
              </a:rPr>
              <a:t>30.44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"/>
          <p:cNvSpPr/>
          <p:nvPr/>
        </p:nvSpPr>
        <p:spPr>
          <a:xfrm>
            <a:off x="792000" y="2628000"/>
            <a:ext cx="1872000" cy="2016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500" spc="-1" strike="noStrike">
                <a:solidFill>
                  <a:srgbClr val="f8fafc"/>
                </a:solidFill>
                <a:latin typeface="Aptos"/>
              </a:rPr>
              <a:t>duplicate_plus1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"/>
          <p:cNvSpPr/>
          <p:nvPr/>
        </p:nvSpPr>
        <p:spPr>
          <a:xfrm>
            <a:off x="2736000" y="2660400"/>
            <a:ext cx="2232000" cy="115200"/>
          </a:xfrm>
          <a:prstGeom prst="rect">
            <a:avLst/>
          </a:prstGeom>
          <a:solidFill>
            <a:srgbClr val="12283b"/>
          </a:solidFill>
          <a:ln w="0">
            <a:solidFill>
              <a:srgbClr val="12283b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"/>
          <p:cNvSpPr/>
          <p:nvPr/>
        </p:nvSpPr>
        <p:spPr>
          <a:xfrm>
            <a:off x="2736000" y="2660400"/>
            <a:ext cx="1325880" cy="1152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"/>
          <p:cNvSpPr/>
          <p:nvPr/>
        </p:nvSpPr>
        <p:spPr>
          <a:xfrm>
            <a:off x="5040000" y="2613600"/>
            <a:ext cx="648000" cy="1872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97200" bIns="79200" anchor="t" anchorCtr="1">
            <a:noAutofit/>
          </a:bodyPr>
          <a:p>
            <a:r>
              <a:rPr b="1" lang="en-US" sz="1500" spc="-1" strike="noStrike">
                <a:solidFill>
                  <a:srgbClr val="f8fafc"/>
                </a:solidFill>
                <a:latin typeface="Aptos"/>
              </a:rPr>
              <a:t>24.96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"/>
          <p:cNvSpPr/>
          <p:nvPr/>
        </p:nvSpPr>
        <p:spPr>
          <a:xfrm>
            <a:off x="6300000" y="1620000"/>
            <a:ext cx="4248000" cy="1872000"/>
          </a:xfrm>
          <a:prstGeom prst="rect">
            <a:avLst/>
          </a:prstGeom>
          <a:solidFill>
            <a:srgbClr val="271a1a"/>
          </a:solidFill>
          <a:ln w="0">
            <a:solidFill>
              <a:srgbClr val="ef4444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300" spc="-1" strike="noStrike">
                <a:solidFill>
                  <a:srgbClr val="f8fafc"/>
                </a:solidFill>
                <a:latin typeface="Aptos"/>
              </a:rPr>
              <a:t>Audit conclusion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  <a:p>
            <a:r>
              <a:rPr b="1" lang="en-US" sz="2300" spc="-1" strike="noStrike">
                <a:solidFill>
                  <a:srgbClr val="f8fafc"/>
                </a:solidFill>
                <a:latin typeface="Aptos"/>
              </a:rPr>
              <a:t>Shuffle and reverse preserve length and token multiset, yet produce 30-32 K mean drift across five seeds. The model is not specifically length-sensitive.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"/>
          <p:cNvSpPr/>
          <p:nvPr/>
        </p:nvSpPr>
        <p:spPr>
          <a:xfrm>
            <a:off x="0" y="0"/>
            <a:ext cx="11988000" cy="6732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"/>
          <p:cNvSpPr/>
          <p:nvPr/>
        </p:nvSpPr>
        <p:spPr>
          <a:xfrm>
            <a:off x="0" y="0"/>
            <a:ext cx="151200" cy="6732000"/>
          </a:xfrm>
          <a:prstGeom prst="rect">
            <a:avLst/>
          </a:prstGeom>
          <a:solidFill>
            <a:srgbClr val="0c2a3f"/>
          </a:solidFill>
          <a:ln w="0">
            <a:solidFill>
              <a:srgbClr val="0c2a3f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"/>
          <p:cNvSpPr/>
          <p:nvPr/>
        </p:nvSpPr>
        <p:spPr>
          <a:xfrm>
            <a:off x="378000" y="216000"/>
            <a:ext cx="11088000" cy="324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700" spc="-1" strike="noStrike">
                <a:solidFill>
                  <a:srgbClr val="f8fafc"/>
                </a:solidFill>
                <a:latin typeface="Aptos"/>
              </a:rPr>
              <a:t>Forensic Result 2: Pooling Dilution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"/>
          <p:cNvSpPr/>
          <p:nvPr/>
        </p:nvSpPr>
        <p:spPr>
          <a:xfrm>
            <a:off x="388800" y="554400"/>
            <a:ext cx="8208000" cy="216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400" spc="-1" strike="noStrike">
                <a:solidFill>
                  <a:srgbClr val="9cb4c8"/>
                </a:solidFill>
                <a:latin typeface="Aptos"/>
              </a:rPr>
              <a:t>Drift scales with 1/L, exactly what mean pooling predicts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"/>
          <p:cNvSpPr/>
          <p:nvPr/>
        </p:nvSpPr>
        <p:spPr>
          <a:xfrm>
            <a:off x="378000" y="835200"/>
            <a:ext cx="1548000" cy="216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txBody>
          <a:bodyPr lIns="90000" rIns="90000" tIns="-23400" bIns="-234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"/>
          <p:cNvSpPr/>
          <p:nvPr/>
        </p:nvSpPr>
        <p:spPr>
          <a:xfrm>
            <a:off x="1962000" y="835200"/>
            <a:ext cx="9504000" cy="6480"/>
          </a:xfrm>
          <a:prstGeom prst="rect">
            <a:avLst/>
          </a:prstGeom>
          <a:solidFill>
            <a:srgbClr val="31506a"/>
          </a:solidFill>
          <a:ln w="0">
            <a:solidFill>
              <a:srgbClr val="31506a"/>
            </a:solidFill>
          </a:ln>
        </p:spPr>
        <p:txBody>
          <a:bodyPr lIns="90000" rIns="90000" tIns="-38520" bIns="-385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"/>
          <p:cNvSpPr/>
          <p:nvPr/>
        </p:nvSpPr>
        <p:spPr>
          <a:xfrm>
            <a:off x="10512000" y="6278400"/>
            <a:ext cx="900000" cy="1512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61200" bIns="43200" anchor="t" anchorCtr="1">
            <a:noAutofit/>
          </a:bodyPr>
          <a:p>
            <a:pPr algn="just"/>
            <a:r>
              <a:rPr b="1" lang="en-US" sz="1100" spc="-1" strike="noStrike">
                <a:solidFill>
                  <a:srgbClr val="9cb4c8"/>
                </a:solidFill>
                <a:latin typeface="Aptos"/>
              </a:rPr>
              <a:t>15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"/>
          <p:cNvSpPr/>
          <p:nvPr/>
        </p:nvSpPr>
        <p:spPr>
          <a:xfrm>
            <a:off x="378000" y="6278400"/>
            <a:ext cx="4248000" cy="1512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61200" bIns="43200" anchor="t" anchorCtr="1">
            <a:noAutofit/>
          </a:bodyPr>
          <a:p>
            <a:r>
              <a:rPr b="0" lang="en-US" sz="1000" spc="-1" strike="noStrike">
                <a:solidFill>
                  <a:srgbClr val="6f879a"/>
                </a:solidFill>
                <a:latin typeface="Aptos"/>
              </a:rPr>
              <a:t>Materials adversarial learning forensic review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"/>
          <p:cNvSpPr/>
          <p:nvPr/>
        </p:nvSpPr>
        <p:spPr>
          <a:xfrm>
            <a:off x="504000" y="1404000"/>
            <a:ext cx="1872000" cy="2016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500" spc="-1" strike="noStrike">
                <a:solidFill>
                  <a:srgbClr val="f8fafc"/>
                </a:solidFill>
                <a:latin typeface="Aptos"/>
              </a:rPr>
              <a:t>[0,15) insertion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"/>
          <p:cNvSpPr/>
          <p:nvPr/>
        </p:nvSpPr>
        <p:spPr>
          <a:xfrm>
            <a:off x="2448000" y="1436400"/>
            <a:ext cx="2232000" cy="115200"/>
          </a:xfrm>
          <a:prstGeom prst="rect">
            <a:avLst/>
          </a:prstGeom>
          <a:solidFill>
            <a:srgbClr val="12283b"/>
          </a:solidFill>
          <a:ln w="0">
            <a:solidFill>
              <a:srgbClr val="12283b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"/>
          <p:cNvSpPr/>
          <p:nvPr/>
        </p:nvSpPr>
        <p:spPr>
          <a:xfrm>
            <a:off x="2448000" y="1436400"/>
            <a:ext cx="2102040" cy="1152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"/>
          <p:cNvSpPr/>
          <p:nvPr/>
        </p:nvSpPr>
        <p:spPr>
          <a:xfrm>
            <a:off x="4752000" y="1389600"/>
            <a:ext cx="648000" cy="1872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97200" bIns="79200" anchor="t" anchorCtr="1">
            <a:noAutofit/>
          </a:bodyPr>
          <a:p>
            <a:r>
              <a:rPr b="1" lang="en-US" sz="1500" spc="-1" strike="noStrike">
                <a:solidFill>
                  <a:srgbClr val="f8fafc"/>
                </a:solidFill>
                <a:latin typeface="Aptos"/>
              </a:rPr>
              <a:t>75.34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"/>
          <p:cNvSpPr/>
          <p:nvPr/>
        </p:nvSpPr>
        <p:spPr>
          <a:xfrm>
            <a:off x="504000" y="1764000"/>
            <a:ext cx="1872000" cy="2016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500" spc="-1" strike="noStrike">
                <a:solidFill>
                  <a:srgbClr val="f8fafc"/>
                </a:solidFill>
                <a:latin typeface="Aptos"/>
              </a:rPr>
              <a:t>[0,15) deletion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"/>
          <p:cNvSpPr/>
          <p:nvPr/>
        </p:nvSpPr>
        <p:spPr>
          <a:xfrm>
            <a:off x="2448000" y="1796400"/>
            <a:ext cx="2232000" cy="115200"/>
          </a:xfrm>
          <a:prstGeom prst="rect">
            <a:avLst/>
          </a:prstGeom>
          <a:solidFill>
            <a:srgbClr val="12283b"/>
          </a:solidFill>
          <a:ln w="0">
            <a:solidFill>
              <a:srgbClr val="12283b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"/>
          <p:cNvSpPr/>
          <p:nvPr/>
        </p:nvSpPr>
        <p:spPr>
          <a:xfrm>
            <a:off x="2448000" y="1796400"/>
            <a:ext cx="1286640" cy="115200"/>
          </a:xfrm>
          <a:prstGeom prst="rect">
            <a:avLst/>
          </a:prstGeom>
          <a:solidFill>
            <a:srgbClr val="38bdf8"/>
          </a:solidFill>
          <a:ln w="0">
            <a:solidFill>
              <a:srgbClr val="38bdf8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"/>
          <p:cNvSpPr/>
          <p:nvPr/>
        </p:nvSpPr>
        <p:spPr>
          <a:xfrm>
            <a:off x="4752000" y="1749600"/>
            <a:ext cx="648000" cy="1872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97200" bIns="79200" anchor="t" anchorCtr="1">
            <a:noAutofit/>
          </a:bodyPr>
          <a:p>
            <a:r>
              <a:rPr b="1" lang="en-US" sz="1500" spc="-1" strike="noStrike">
                <a:solidFill>
                  <a:srgbClr val="f8fafc"/>
                </a:solidFill>
                <a:latin typeface="Aptos"/>
              </a:rPr>
              <a:t>46.12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"/>
          <p:cNvSpPr/>
          <p:nvPr/>
        </p:nvSpPr>
        <p:spPr>
          <a:xfrm>
            <a:off x="504000" y="2214000"/>
            <a:ext cx="1872000" cy="2016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500" spc="-1" strike="noStrike">
                <a:solidFill>
                  <a:srgbClr val="f8fafc"/>
                </a:solidFill>
                <a:latin typeface="Aptos"/>
              </a:rPr>
              <a:t>[15,30) insertion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"/>
          <p:cNvSpPr/>
          <p:nvPr/>
        </p:nvSpPr>
        <p:spPr>
          <a:xfrm>
            <a:off x="2448000" y="2246400"/>
            <a:ext cx="2232000" cy="115200"/>
          </a:xfrm>
          <a:prstGeom prst="rect">
            <a:avLst/>
          </a:prstGeom>
          <a:solidFill>
            <a:srgbClr val="12283b"/>
          </a:solidFill>
          <a:ln w="0">
            <a:solidFill>
              <a:srgbClr val="12283b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"/>
          <p:cNvSpPr/>
          <p:nvPr/>
        </p:nvSpPr>
        <p:spPr>
          <a:xfrm>
            <a:off x="2448000" y="2246400"/>
            <a:ext cx="1526400" cy="1152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"/>
          <p:cNvSpPr/>
          <p:nvPr/>
        </p:nvSpPr>
        <p:spPr>
          <a:xfrm>
            <a:off x="4752000" y="2199600"/>
            <a:ext cx="648000" cy="1872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97200" bIns="79200" anchor="t" anchorCtr="1">
            <a:noAutofit/>
          </a:bodyPr>
          <a:p>
            <a:r>
              <a:rPr b="1" lang="en-US" sz="1500" spc="-1" strike="noStrike">
                <a:solidFill>
                  <a:srgbClr val="f8fafc"/>
                </a:solidFill>
                <a:latin typeface="Aptos"/>
              </a:rPr>
              <a:t>54.72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"/>
          <p:cNvSpPr/>
          <p:nvPr/>
        </p:nvSpPr>
        <p:spPr>
          <a:xfrm>
            <a:off x="504000" y="2574000"/>
            <a:ext cx="1872000" cy="2016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500" spc="-1" strike="noStrike">
                <a:solidFill>
                  <a:srgbClr val="f8fafc"/>
                </a:solidFill>
                <a:latin typeface="Aptos"/>
              </a:rPr>
              <a:t>[15,30) deletion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" name=""/>
          <p:cNvSpPr/>
          <p:nvPr/>
        </p:nvSpPr>
        <p:spPr>
          <a:xfrm>
            <a:off x="2448000" y="2606400"/>
            <a:ext cx="2232000" cy="115200"/>
          </a:xfrm>
          <a:prstGeom prst="rect">
            <a:avLst/>
          </a:prstGeom>
          <a:solidFill>
            <a:srgbClr val="12283b"/>
          </a:solidFill>
          <a:ln w="0">
            <a:solidFill>
              <a:srgbClr val="12283b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"/>
          <p:cNvSpPr/>
          <p:nvPr/>
        </p:nvSpPr>
        <p:spPr>
          <a:xfrm>
            <a:off x="2448000" y="2606400"/>
            <a:ext cx="1118880" cy="115200"/>
          </a:xfrm>
          <a:prstGeom prst="rect">
            <a:avLst/>
          </a:prstGeom>
          <a:solidFill>
            <a:srgbClr val="38bdf8"/>
          </a:solidFill>
          <a:ln w="0">
            <a:solidFill>
              <a:srgbClr val="38bdf8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"/>
          <p:cNvSpPr/>
          <p:nvPr/>
        </p:nvSpPr>
        <p:spPr>
          <a:xfrm>
            <a:off x="4752000" y="2559600"/>
            <a:ext cx="648000" cy="1872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97200" bIns="79200" anchor="t" anchorCtr="1">
            <a:noAutofit/>
          </a:bodyPr>
          <a:p>
            <a:r>
              <a:rPr b="1" lang="en-US" sz="1500" spc="-1" strike="noStrike">
                <a:solidFill>
                  <a:srgbClr val="f8fafc"/>
                </a:solidFill>
                <a:latin typeface="Aptos"/>
              </a:rPr>
              <a:t>40.11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"/>
          <p:cNvSpPr/>
          <p:nvPr/>
        </p:nvSpPr>
        <p:spPr>
          <a:xfrm>
            <a:off x="504000" y="3024000"/>
            <a:ext cx="1872000" cy="2016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500" spc="-1" strike="noStrike">
                <a:solidFill>
                  <a:srgbClr val="f8fafc"/>
                </a:solidFill>
                <a:latin typeface="Aptos"/>
              </a:rPr>
              <a:t>[30,60) insertion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" name=""/>
          <p:cNvSpPr/>
          <p:nvPr/>
        </p:nvSpPr>
        <p:spPr>
          <a:xfrm>
            <a:off x="2448000" y="3056400"/>
            <a:ext cx="2232000" cy="115200"/>
          </a:xfrm>
          <a:prstGeom prst="rect">
            <a:avLst/>
          </a:prstGeom>
          <a:solidFill>
            <a:srgbClr val="12283b"/>
          </a:solidFill>
          <a:ln w="0">
            <a:solidFill>
              <a:srgbClr val="12283b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"/>
          <p:cNvSpPr/>
          <p:nvPr/>
        </p:nvSpPr>
        <p:spPr>
          <a:xfrm>
            <a:off x="2448000" y="3056400"/>
            <a:ext cx="746640" cy="1152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"/>
          <p:cNvSpPr/>
          <p:nvPr/>
        </p:nvSpPr>
        <p:spPr>
          <a:xfrm>
            <a:off x="4752000" y="3009600"/>
            <a:ext cx="648000" cy="1872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97200" bIns="79200" anchor="t" anchorCtr="1">
            <a:noAutofit/>
          </a:bodyPr>
          <a:p>
            <a:r>
              <a:rPr b="1" lang="en-US" sz="1500" spc="-1" strike="noStrike">
                <a:solidFill>
                  <a:srgbClr val="f8fafc"/>
                </a:solidFill>
                <a:latin typeface="Aptos"/>
              </a:rPr>
              <a:t>26.76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"/>
          <p:cNvSpPr/>
          <p:nvPr/>
        </p:nvSpPr>
        <p:spPr>
          <a:xfrm>
            <a:off x="504000" y="3384000"/>
            <a:ext cx="1872000" cy="2016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500" spc="-1" strike="noStrike">
                <a:solidFill>
                  <a:srgbClr val="f8fafc"/>
                </a:solidFill>
                <a:latin typeface="Aptos"/>
              </a:rPr>
              <a:t>[30,60) deletion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"/>
          <p:cNvSpPr/>
          <p:nvPr/>
        </p:nvSpPr>
        <p:spPr>
          <a:xfrm>
            <a:off x="2448000" y="3416400"/>
            <a:ext cx="2232000" cy="115200"/>
          </a:xfrm>
          <a:prstGeom prst="rect">
            <a:avLst/>
          </a:prstGeom>
          <a:solidFill>
            <a:srgbClr val="12283b"/>
          </a:solidFill>
          <a:ln w="0">
            <a:solidFill>
              <a:srgbClr val="12283b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"/>
          <p:cNvSpPr/>
          <p:nvPr/>
        </p:nvSpPr>
        <p:spPr>
          <a:xfrm>
            <a:off x="2448000" y="3416400"/>
            <a:ext cx="485640" cy="115200"/>
          </a:xfrm>
          <a:prstGeom prst="rect">
            <a:avLst/>
          </a:prstGeom>
          <a:solidFill>
            <a:srgbClr val="38bdf8"/>
          </a:solidFill>
          <a:ln w="0">
            <a:solidFill>
              <a:srgbClr val="38bdf8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"/>
          <p:cNvSpPr/>
          <p:nvPr/>
        </p:nvSpPr>
        <p:spPr>
          <a:xfrm>
            <a:off x="4752000" y="3369600"/>
            <a:ext cx="648000" cy="1872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97200" bIns="79200" anchor="t" anchorCtr="1">
            <a:noAutofit/>
          </a:bodyPr>
          <a:p>
            <a:r>
              <a:rPr b="1" lang="en-US" sz="1500" spc="-1" strike="noStrike">
                <a:solidFill>
                  <a:srgbClr val="f8fafc"/>
                </a:solidFill>
                <a:latin typeface="Aptos"/>
              </a:rPr>
              <a:t>17.41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"/>
          <p:cNvSpPr/>
          <p:nvPr/>
        </p:nvSpPr>
        <p:spPr>
          <a:xfrm>
            <a:off x="504000" y="3834000"/>
            <a:ext cx="1872000" cy="2016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500" spc="-1" strike="noStrike">
                <a:solidFill>
                  <a:srgbClr val="f8fafc"/>
                </a:solidFill>
                <a:latin typeface="Aptos"/>
              </a:rPr>
              <a:t>[60,999) insertion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"/>
          <p:cNvSpPr/>
          <p:nvPr/>
        </p:nvSpPr>
        <p:spPr>
          <a:xfrm>
            <a:off x="2448000" y="3866400"/>
            <a:ext cx="2232000" cy="115200"/>
          </a:xfrm>
          <a:prstGeom prst="rect">
            <a:avLst/>
          </a:prstGeom>
          <a:solidFill>
            <a:srgbClr val="12283b"/>
          </a:solidFill>
          <a:ln w="0">
            <a:solidFill>
              <a:srgbClr val="12283b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"/>
          <p:cNvSpPr/>
          <p:nvPr/>
        </p:nvSpPr>
        <p:spPr>
          <a:xfrm>
            <a:off x="2448000" y="3866400"/>
            <a:ext cx="536760" cy="1152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"/>
          <p:cNvSpPr/>
          <p:nvPr/>
        </p:nvSpPr>
        <p:spPr>
          <a:xfrm>
            <a:off x="4752000" y="3819600"/>
            <a:ext cx="648000" cy="1872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97200" bIns="79200" anchor="t" anchorCtr="1">
            <a:noAutofit/>
          </a:bodyPr>
          <a:p>
            <a:r>
              <a:rPr b="1" lang="en-US" sz="1500" spc="-1" strike="noStrike">
                <a:solidFill>
                  <a:srgbClr val="f8fafc"/>
                </a:solidFill>
                <a:latin typeface="Aptos"/>
              </a:rPr>
              <a:t>19.25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" name=""/>
          <p:cNvSpPr/>
          <p:nvPr/>
        </p:nvSpPr>
        <p:spPr>
          <a:xfrm>
            <a:off x="504000" y="4194000"/>
            <a:ext cx="1872000" cy="2016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500" spc="-1" strike="noStrike">
                <a:solidFill>
                  <a:srgbClr val="f8fafc"/>
                </a:solidFill>
                <a:latin typeface="Aptos"/>
              </a:rPr>
              <a:t>[60,999) deletion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"/>
          <p:cNvSpPr/>
          <p:nvPr/>
        </p:nvSpPr>
        <p:spPr>
          <a:xfrm>
            <a:off x="2448000" y="4226400"/>
            <a:ext cx="2232000" cy="115200"/>
          </a:xfrm>
          <a:prstGeom prst="rect">
            <a:avLst/>
          </a:prstGeom>
          <a:solidFill>
            <a:srgbClr val="12283b"/>
          </a:solidFill>
          <a:ln w="0">
            <a:solidFill>
              <a:srgbClr val="12283b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"/>
          <p:cNvSpPr/>
          <p:nvPr/>
        </p:nvSpPr>
        <p:spPr>
          <a:xfrm>
            <a:off x="2448000" y="4226400"/>
            <a:ext cx="614160" cy="115200"/>
          </a:xfrm>
          <a:prstGeom prst="rect">
            <a:avLst/>
          </a:prstGeom>
          <a:solidFill>
            <a:srgbClr val="38bdf8"/>
          </a:solidFill>
          <a:ln w="0">
            <a:solidFill>
              <a:srgbClr val="38bdf8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"/>
          <p:cNvSpPr/>
          <p:nvPr/>
        </p:nvSpPr>
        <p:spPr>
          <a:xfrm>
            <a:off x="4752000" y="4179600"/>
            <a:ext cx="648000" cy="1872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97200" bIns="79200" anchor="t" anchorCtr="1">
            <a:noAutofit/>
          </a:bodyPr>
          <a:p>
            <a:r>
              <a:rPr b="1" lang="en-US" sz="1500" spc="-1" strike="noStrike">
                <a:solidFill>
                  <a:srgbClr val="f8fafc"/>
                </a:solidFill>
                <a:latin typeface="Aptos"/>
              </a:rPr>
              <a:t>22.01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"/>
          <p:cNvSpPr/>
          <p:nvPr/>
        </p:nvSpPr>
        <p:spPr>
          <a:xfrm>
            <a:off x="6732000" y="1548000"/>
            <a:ext cx="3672000" cy="1692000"/>
          </a:xfrm>
          <a:prstGeom prst="rect">
            <a:avLst/>
          </a:prstGeom>
          <a:solidFill>
            <a:srgbClr val="102b42"/>
          </a:solidFill>
          <a:ln w="0">
            <a:solidFill>
              <a:srgbClr val="f59e0b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400" spc="-1" strike="noStrike">
                <a:solidFill>
                  <a:srgbClr val="f8fafc"/>
                </a:solidFill>
                <a:latin typeface="Aptos"/>
              </a:rPr>
              <a:t>Correlations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r>
              <a:rPr b="1" lang="en-US" sz="2400" spc="-1" strike="noStrike">
                <a:solidFill>
                  <a:srgbClr val="f8fafc"/>
                </a:solidFill>
                <a:latin typeface="Aptos"/>
              </a:rPr>
              <a:t>length vs insertion drift: -0.502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r>
              <a:rPr b="1" lang="en-US" sz="2400" spc="-1" strike="noStrike">
                <a:solidFill>
                  <a:srgbClr val="f8fafc"/>
                </a:solidFill>
                <a:latin typeface="Aptos"/>
              </a:rPr>
              <a:t>1/length vs insertion drift: 0.575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"/>
          <p:cNvSpPr/>
          <p:nvPr/>
        </p:nvSpPr>
        <p:spPr>
          <a:xfrm>
            <a:off x="0" y="0"/>
            <a:ext cx="11988000" cy="6732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"/>
          <p:cNvSpPr/>
          <p:nvPr/>
        </p:nvSpPr>
        <p:spPr>
          <a:xfrm>
            <a:off x="0" y="0"/>
            <a:ext cx="151200" cy="6732000"/>
          </a:xfrm>
          <a:prstGeom prst="rect">
            <a:avLst/>
          </a:prstGeom>
          <a:solidFill>
            <a:srgbClr val="0c2a3f"/>
          </a:solidFill>
          <a:ln w="0">
            <a:solidFill>
              <a:srgbClr val="0c2a3f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"/>
          <p:cNvSpPr/>
          <p:nvPr/>
        </p:nvSpPr>
        <p:spPr>
          <a:xfrm>
            <a:off x="378000" y="216000"/>
            <a:ext cx="11088000" cy="324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700" spc="-1" strike="noStrike">
                <a:solidFill>
                  <a:srgbClr val="f8fafc"/>
                </a:solidFill>
                <a:latin typeface="Aptos"/>
              </a:rPr>
              <a:t>Forensic Result 3: Attacks Are Unequal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"/>
          <p:cNvSpPr/>
          <p:nvPr/>
        </p:nvSpPr>
        <p:spPr>
          <a:xfrm>
            <a:off x="388800" y="554400"/>
            <a:ext cx="8208000" cy="216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400" spc="-1" strike="noStrike">
                <a:solidFill>
                  <a:srgbClr val="9cb4c8"/>
                </a:solidFill>
                <a:latin typeface="Aptos"/>
              </a:rPr>
              <a:t>Attack-family comparisons confound mechanism with chemical severity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"/>
          <p:cNvSpPr/>
          <p:nvPr/>
        </p:nvSpPr>
        <p:spPr>
          <a:xfrm>
            <a:off x="378000" y="835200"/>
            <a:ext cx="1548000" cy="216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txBody>
          <a:bodyPr lIns="90000" rIns="90000" tIns="-23400" bIns="-234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"/>
          <p:cNvSpPr/>
          <p:nvPr/>
        </p:nvSpPr>
        <p:spPr>
          <a:xfrm>
            <a:off x="1962000" y="835200"/>
            <a:ext cx="9504000" cy="6480"/>
          </a:xfrm>
          <a:prstGeom prst="rect">
            <a:avLst/>
          </a:prstGeom>
          <a:solidFill>
            <a:srgbClr val="31506a"/>
          </a:solidFill>
          <a:ln w="0">
            <a:solidFill>
              <a:srgbClr val="31506a"/>
            </a:solidFill>
          </a:ln>
        </p:spPr>
        <p:txBody>
          <a:bodyPr lIns="90000" rIns="90000" tIns="-38520" bIns="-385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"/>
          <p:cNvSpPr/>
          <p:nvPr/>
        </p:nvSpPr>
        <p:spPr>
          <a:xfrm>
            <a:off x="10512000" y="6278400"/>
            <a:ext cx="900000" cy="1512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61200" bIns="43200" anchor="t" anchorCtr="1">
            <a:noAutofit/>
          </a:bodyPr>
          <a:p>
            <a:pPr algn="just"/>
            <a:r>
              <a:rPr b="1" lang="en-US" sz="1100" spc="-1" strike="noStrike">
                <a:solidFill>
                  <a:srgbClr val="9cb4c8"/>
                </a:solidFill>
                <a:latin typeface="Aptos"/>
              </a:rPr>
              <a:t>16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" name=""/>
          <p:cNvSpPr/>
          <p:nvPr/>
        </p:nvSpPr>
        <p:spPr>
          <a:xfrm>
            <a:off x="378000" y="6278400"/>
            <a:ext cx="4248000" cy="1512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61200" bIns="43200" anchor="t" anchorCtr="1">
            <a:noAutofit/>
          </a:bodyPr>
          <a:p>
            <a:r>
              <a:rPr b="0" lang="en-US" sz="1000" spc="-1" strike="noStrike">
                <a:solidFill>
                  <a:srgbClr val="6f879a"/>
                </a:solidFill>
                <a:latin typeface="Aptos"/>
              </a:rPr>
              <a:t>Materials adversarial learning forensic review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"/>
          <p:cNvSpPr/>
          <p:nvPr/>
        </p:nvSpPr>
        <p:spPr>
          <a:xfrm>
            <a:off x="468000" y="1332000"/>
            <a:ext cx="10512000" cy="378000"/>
          </a:xfrm>
          <a:prstGeom prst="rect">
            <a:avLst/>
          </a:prstGeom>
          <a:solidFill>
            <a:srgbClr val="102b42"/>
          </a:solidFill>
          <a:ln w="0">
            <a:solidFill>
              <a:srgbClr val="38bdf8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1700" spc="-1" strike="noStrike">
                <a:solidFill>
                  <a:srgbClr val="f8fafc"/>
                </a:solidFill>
                <a:latin typeface="Aptos"/>
              </a:rPr>
              <a:t>substitution: n=88 | validity=48.6% | mean ΔMW=10.79 | formula preserved=0.0% | mean drift=12.97 K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"/>
          <p:cNvSpPr/>
          <p:nvPr/>
        </p:nvSpPr>
        <p:spPr>
          <a:xfrm>
            <a:off x="468000" y="1818000"/>
            <a:ext cx="10512000" cy="378000"/>
          </a:xfrm>
          <a:prstGeom prst="rect">
            <a:avLst/>
          </a:prstGeom>
          <a:solidFill>
            <a:srgbClr val="102b42"/>
          </a:solidFill>
          <a:ln w="0">
            <a:solidFill>
              <a:srgbClr val="f59e0b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1700" spc="-1" strike="noStrike">
                <a:solidFill>
                  <a:srgbClr val="f8fafc"/>
                </a:solidFill>
                <a:latin typeface="Aptos"/>
              </a:rPr>
              <a:t>insertion: n=85 | validity=45.9% | mean ΔMW=15.75 | formula preserved=12.9% | mean drift=30.67 K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"/>
          <p:cNvSpPr/>
          <p:nvPr/>
        </p:nvSpPr>
        <p:spPr>
          <a:xfrm>
            <a:off x="468000" y="2304000"/>
            <a:ext cx="10512000" cy="378000"/>
          </a:xfrm>
          <a:prstGeom prst="rect">
            <a:avLst/>
          </a:prstGeom>
          <a:solidFill>
            <a:srgbClr val="102b42"/>
          </a:solidFill>
          <a:ln w="0">
            <a:solidFill>
              <a:srgbClr val="f59e0b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1700" spc="-1" strike="noStrike">
                <a:solidFill>
                  <a:srgbClr val="f8fafc"/>
                </a:solidFill>
                <a:latin typeface="Aptos"/>
              </a:rPr>
              <a:t>deletion: n=94 | validity=50.8% | mean ΔMW=12.28 | formula preserved=2.1% | mean drift=30.73 K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"/>
          <p:cNvSpPr/>
          <p:nvPr/>
        </p:nvSpPr>
        <p:spPr>
          <a:xfrm>
            <a:off x="468000" y="2790000"/>
            <a:ext cx="10512000" cy="378000"/>
          </a:xfrm>
          <a:prstGeom prst="rect">
            <a:avLst/>
          </a:prstGeom>
          <a:solidFill>
            <a:srgbClr val="102b42"/>
          </a:solidFill>
          <a:ln w="0">
            <a:solidFill>
              <a:srgbClr val="22c55e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1700" spc="-1" strike="noStrike">
                <a:solidFill>
                  <a:srgbClr val="f8fafc"/>
                </a:solidFill>
                <a:latin typeface="Aptos"/>
              </a:rPr>
              <a:t>rearrangement: n=63 | validity=63.0% | mean ΔMW=0.00 | formula preserved=100.0% | mean drift=7.99 K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"/>
          <p:cNvSpPr/>
          <p:nvPr/>
        </p:nvSpPr>
        <p:spPr>
          <a:xfrm>
            <a:off x="1512000" y="3456000"/>
            <a:ext cx="8496000" cy="576000"/>
          </a:xfrm>
          <a:prstGeom prst="rect">
            <a:avLst/>
          </a:prstGeom>
          <a:solidFill>
            <a:srgbClr val="271a1a"/>
          </a:solidFill>
          <a:ln w="0">
            <a:solidFill>
              <a:srgbClr val="ef4444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2100" spc="-1" strike="noStrike">
                <a:solidFill>
                  <a:srgbClr val="f8fafc"/>
                </a:solidFill>
                <a:latin typeface="Aptos"/>
              </a:rPr>
              <a:t>Rearrangement preserves formula in 100% of valid cases; insertion/deletion change heavy atoms. These are not matched experimental treatments.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"/>
          <p:cNvSpPr/>
          <p:nvPr/>
        </p:nvSpPr>
        <p:spPr>
          <a:xfrm>
            <a:off x="0" y="0"/>
            <a:ext cx="11988000" cy="6732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"/>
          <p:cNvSpPr/>
          <p:nvPr/>
        </p:nvSpPr>
        <p:spPr>
          <a:xfrm>
            <a:off x="0" y="0"/>
            <a:ext cx="151200" cy="6732000"/>
          </a:xfrm>
          <a:prstGeom prst="rect">
            <a:avLst/>
          </a:prstGeom>
          <a:solidFill>
            <a:srgbClr val="0c2a3f"/>
          </a:solidFill>
          <a:ln w="0">
            <a:solidFill>
              <a:srgbClr val="0c2a3f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" name=""/>
          <p:cNvSpPr/>
          <p:nvPr/>
        </p:nvSpPr>
        <p:spPr>
          <a:xfrm>
            <a:off x="378000" y="216000"/>
            <a:ext cx="11088000" cy="324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700" spc="-1" strike="noStrike">
                <a:solidFill>
                  <a:srgbClr val="f8fafc"/>
                </a:solidFill>
                <a:latin typeface="Aptos"/>
              </a:rPr>
              <a:t>Forensic Result 4: Controls Beat The Transformer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" name=""/>
          <p:cNvSpPr/>
          <p:nvPr/>
        </p:nvSpPr>
        <p:spPr>
          <a:xfrm>
            <a:off x="388800" y="554400"/>
            <a:ext cx="8208000" cy="216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400" spc="-1" strike="noStrike">
                <a:solidFill>
                  <a:srgbClr val="9cb4c8"/>
                </a:solidFill>
                <a:latin typeface="Aptos"/>
              </a:rPr>
              <a:t>The model has not demonstrably learned chemistry in the Tg audit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" name=""/>
          <p:cNvSpPr/>
          <p:nvPr/>
        </p:nvSpPr>
        <p:spPr>
          <a:xfrm>
            <a:off x="378000" y="835200"/>
            <a:ext cx="1548000" cy="216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txBody>
          <a:bodyPr lIns="90000" rIns="90000" tIns="-23400" bIns="-234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"/>
          <p:cNvSpPr/>
          <p:nvPr/>
        </p:nvSpPr>
        <p:spPr>
          <a:xfrm>
            <a:off x="1962000" y="835200"/>
            <a:ext cx="9504000" cy="6480"/>
          </a:xfrm>
          <a:prstGeom prst="rect">
            <a:avLst/>
          </a:prstGeom>
          <a:solidFill>
            <a:srgbClr val="31506a"/>
          </a:solidFill>
          <a:ln w="0">
            <a:solidFill>
              <a:srgbClr val="31506a"/>
            </a:solidFill>
          </a:ln>
        </p:spPr>
        <p:txBody>
          <a:bodyPr lIns="90000" rIns="90000" tIns="-38520" bIns="-385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"/>
          <p:cNvSpPr/>
          <p:nvPr/>
        </p:nvSpPr>
        <p:spPr>
          <a:xfrm>
            <a:off x="10512000" y="6278400"/>
            <a:ext cx="900000" cy="1512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61200" bIns="43200" anchor="t" anchorCtr="1">
            <a:noAutofit/>
          </a:bodyPr>
          <a:p>
            <a:pPr algn="just"/>
            <a:r>
              <a:rPr b="1" lang="en-US" sz="1100" spc="-1" strike="noStrike">
                <a:solidFill>
                  <a:srgbClr val="9cb4c8"/>
                </a:solidFill>
                <a:latin typeface="Aptos"/>
              </a:rPr>
              <a:t>17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"/>
          <p:cNvSpPr/>
          <p:nvPr/>
        </p:nvSpPr>
        <p:spPr>
          <a:xfrm>
            <a:off x="378000" y="6278400"/>
            <a:ext cx="4248000" cy="1512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61200" bIns="43200" anchor="t" anchorCtr="1">
            <a:noAutofit/>
          </a:bodyPr>
          <a:p>
            <a:r>
              <a:rPr b="0" lang="en-US" sz="1000" spc="-1" strike="noStrike">
                <a:solidFill>
                  <a:srgbClr val="6f879a"/>
                </a:solidFill>
                <a:latin typeface="Aptos"/>
              </a:rPr>
              <a:t>Materials adversarial learning forensic review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" name=""/>
          <p:cNvSpPr/>
          <p:nvPr/>
        </p:nvSpPr>
        <p:spPr>
          <a:xfrm>
            <a:off x="684000" y="1476000"/>
            <a:ext cx="1872000" cy="2016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500" spc="-1" strike="noStrike">
                <a:solidFill>
                  <a:srgbClr val="f8fafc"/>
                </a:solidFill>
                <a:latin typeface="Aptos"/>
              </a:rPr>
              <a:t>Mean predictor val MAE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" name=""/>
          <p:cNvSpPr/>
          <p:nvPr/>
        </p:nvSpPr>
        <p:spPr>
          <a:xfrm>
            <a:off x="2628000" y="1508400"/>
            <a:ext cx="2232000" cy="115200"/>
          </a:xfrm>
          <a:prstGeom prst="rect">
            <a:avLst/>
          </a:prstGeom>
          <a:solidFill>
            <a:srgbClr val="12283b"/>
          </a:solidFill>
          <a:ln w="0">
            <a:solidFill>
              <a:srgbClr val="12283b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" name=""/>
          <p:cNvSpPr/>
          <p:nvPr/>
        </p:nvSpPr>
        <p:spPr>
          <a:xfrm>
            <a:off x="2628000" y="1508400"/>
            <a:ext cx="2078640" cy="115200"/>
          </a:xfrm>
          <a:prstGeom prst="rect">
            <a:avLst/>
          </a:prstGeom>
          <a:solidFill>
            <a:srgbClr val="9cb4c8"/>
          </a:solidFill>
          <a:ln w="0">
            <a:solidFill>
              <a:srgbClr val="9cb4c8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"/>
          <p:cNvSpPr/>
          <p:nvPr/>
        </p:nvSpPr>
        <p:spPr>
          <a:xfrm>
            <a:off x="4932000" y="1461600"/>
            <a:ext cx="648000" cy="1872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97200" bIns="79200" anchor="t" anchorCtr="1">
            <a:noAutofit/>
          </a:bodyPr>
          <a:p>
            <a:r>
              <a:rPr b="1" lang="en-US" sz="1500" spc="-1" strike="noStrike">
                <a:solidFill>
                  <a:srgbClr val="f8fafc"/>
                </a:solidFill>
                <a:latin typeface="Aptos"/>
              </a:rPr>
              <a:t>88.48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" name=""/>
          <p:cNvSpPr/>
          <p:nvPr/>
        </p:nvSpPr>
        <p:spPr>
          <a:xfrm>
            <a:off x="684000" y="1962000"/>
            <a:ext cx="1872000" cy="2016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500" spc="-1" strike="noStrike">
                <a:solidFill>
                  <a:srgbClr val="f8fafc"/>
                </a:solidFill>
                <a:latin typeface="Aptos"/>
              </a:rPr>
              <a:t>Length-only val MAE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" name=""/>
          <p:cNvSpPr/>
          <p:nvPr/>
        </p:nvSpPr>
        <p:spPr>
          <a:xfrm>
            <a:off x="2628000" y="1994400"/>
            <a:ext cx="2232000" cy="115200"/>
          </a:xfrm>
          <a:prstGeom prst="rect">
            <a:avLst/>
          </a:prstGeom>
          <a:solidFill>
            <a:srgbClr val="12283b"/>
          </a:solidFill>
          <a:ln w="0">
            <a:solidFill>
              <a:srgbClr val="12283b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"/>
          <p:cNvSpPr/>
          <p:nvPr/>
        </p:nvSpPr>
        <p:spPr>
          <a:xfrm>
            <a:off x="2628000" y="1994400"/>
            <a:ext cx="1803600" cy="115200"/>
          </a:xfrm>
          <a:prstGeom prst="rect">
            <a:avLst/>
          </a:prstGeom>
          <a:solidFill>
            <a:srgbClr val="22c55e"/>
          </a:solidFill>
          <a:ln w="0">
            <a:solidFill>
              <a:srgbClr val="22c55e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"/>
          <p:cNvSpPr/>
          <p:nvPr/>
        </p:nvSpPr>
        <p:spPr>
          <a:xfrm>
            <a:off x="4932000" y="1947600"/>
            <a:ext cx="648000" cy="1872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97200" bIns="79200" anchor="t" anchorCtr="1">
            <a:noAutofit/>
          </a:bodyPr>
          <a:p>
            <a:r>
              <a:rPr b="1" lang="en-US" sz="1500" spc="-1" strike="noStrike">
                <a:solidFill>
                  <a:srgbClr val="f8fafc"/>
                </a:solidFill>
                <a:latin typeface="Aptos"/>
              </a:rPr>
              <a:t>76.77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"/>
          <p:cNvSpPr/>
          <p:nvPr/>
        </p:nvSpPr>
        <p:spPr>
          <a:xfrm>
            <a:off x="684000" y="2448000"/>
            <a:ext cx="1872000" cy="2016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500" spc="-1" strike="noStrike">
                <a:solidFill>
                  <a:srgbClr val="f8fafc"/>
                </a:solidFill>
                <a:latin typeface="Aptos"/>
              </a:rPr>
              <a:t>Bag-of-tokens val MAE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0" name=""/>
          <p:cNvSpPr/>
          <p:nvPr/>
        </p:nvSpPr>
        <p:spPr>
          <a:xfrm>
            <a:off x="2628000" y="2480400"/>
            <a:ext cx="2232000" cy="115200"/>
          </a:xfrm>
          <a:prstGeom prst="rect">
            <a:avLst/>
          </a:prstGeom>
          <a:solidFill>
            <a:srgbClr val="12283b"/>
          </a:solidFill>
          <a:ln w="0">
            <a:solidFill>
              <a:srgbClr val="12283b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"/>
          <p:cNvSpPr/>
          <p:nvPr/>
        </p:nvSpPr>
        <p:spPr>
          <a:xfrm>
            <a:off x="2628000" y="2480400"/>
            <a:ext cx="1869840" cy="115200"/>
          </a:xfrm>
          <a:prstGeom prst="rect">
            <a:avLst/>
          </a:prstGeom>
          <a:solidFill>
            <a:srgbClr val="38bdf8"/>
          </a:solidFill>
          <a:ln w="0">
            <a:solidFill>
              <a:srgbClr val="38bdf8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" name=""/>
          <p:cNvSpPr/>
          <p:nvPr/>
        </p:nvSpPr>
        <p:spPr>
          <a:xfrm>
            <a:off x="4932000" y="2433600"/>
            <a:ext cx="648000" cy="1872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97200" bIns="79200" anchor="t" anchorCtr="1">
            <a:noAutofit/>
          </a:bodyPr>
          <a:p>
            <a:r>
              <a:rPr b="1" lang="en-US" sz="1500" spc="-1" strike="noStrike">
                <a:solidFill>
                  <a:srgbClr val="f8fafc"/>
                </a:solidFill>
                <a:latin typeface="Aptos"/>
              </a:rPr>
              <a:t>79.59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"/>
          <p:cNvSpPr/>
          <p:nvPr/>
        </p:nvSpPr>
        <p:spPr>
          <a:xfrm>
            <a:off x="684000" y="2934000"/>
            <a:ext cx="1872000" cy="2016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500" spc="-1" strike="noStrike">
                <a:solidFill>
                  <a:srgbClr val="f8fafc"/>
                </a:solidFill>
                <a:latin typeface="Aptos"/>
              </a:rPr>
              <a:t>Transformer val MAE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"/>
          <p:cNvSpPr/>
          <p:nvPr/>
        </p:nvSpPr>
        <p:spPr>
          <a:xfrm>
            <a:off x="2628000" y="2966400"/>
            <a:ext cx="2232000" cy="115200"/>
          </a:xfrm>
          <a:prstGeom prst="rect">
            <a:avLst/>
          </a:prstGeom>
          <a:solidFill>
            <a:srgbClr val="12283b"/>
          </a:solidFill>
          <a:ln w="0">
            <a:solidFill>
              <a:srgbClr val="12283b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"/>
          <p:cNvSpPr/>
          <p:nvPr/>
        </p:nvSpPr>
        <p:spPr>
          <a:xfrm>
            <a:off x="2628000" y="2966400"/>
            <a:ext cx="1856880" cy="1152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"/>
          <p:cNvSpPr/>
          <p:nvPr/>
        </p:nvSpPr>
        <p:spPr>
          <a:xfrm>
            <a:off x="4932000" y="2919600"/>
            <a:ext cx="648000" cy="1872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97200" bIns="79200" anchor="t" anchorCtr="1">
            <a:noAutofit/>
          </a:bodyPr>
          <a:p>
            <a:r>
              <a:rPr b="1" lang="en-US" sz="1500" spc="-1" strike="noStrike">
                <a:solidFill>
                  <a:srgbClr val="f8fafc"/>
                </a:solidFill>
                <a:latin typeface="Aptos"/>
              </a:rPr>
              <a:t>79.04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" name=""/>
          <p:cNvSpPr/>
          <p:nvPr/>
        </p:nvSpPr>
        <p:spPr>
          <a:xfrm>
            <a:off x="6336000" y="1512000"/>
            <a:ext cx="4140000" cy="1692000"/>
          </a:xfrm>
          <a:prstGeom prst="rect">
            <a:avLst/>
          </a:prstGeom>
          <a:solidFill>
            <a:srgbClr val="271a1a"/>
          </a:solidFill>
          <a:ln w="0">
            <a:solidFill>
              <a:srgbClr val="ef4444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300" spc="-1" strike="noStrike">
                <a:solidFill>
                  <a:srgbClr val="f8fafc"/>
                </a:solidFill>
                <a:latin typeface="Aptos"/>
              </a:rPr>
              <a:t>The uncomfortable result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  <a:p>
            <a:r>
              <a:rPr b="1" lang="en-US" sz="2300" spc="-1" strike="noStrike">
                <a:solidFill>
                  <a:srgbClr val="f8fafc"/>
                </a:solidFill>
                <a:latin typeface="Aptos"/>
              </a:rPr>
              <a:t>A one-feature length-only regression beats the Transformer on validation: 76.77 K vs 79.04 K.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"/>
          <p:cNvSpPr/>
          <p:nvPr/>
        </p:nvSpPr>
        <p:spPr>
          <a:xfrm>
            <a:off x="0" y="0"/>
            <a:ext cx="11988000" cy="6732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9" name=""/>
          <p:cNvSpPr/>
          <p:nvPr/>
        </p:nvSpPr>
        <p:spPr>
          <a:xfrm>
            <a:off x="0" y="0"/>
            <a:ext cx="151200" cy="6732000"/>
          </a:xfrm>
          <a:prstGeom prst="rect">
            <a:avLst/>
          </a:prstGeom>
          <a:solidFill>
            <a:srgbClr val="0c2a3f"/>
          </a:solidFill>
          <a:ln w="0">
            <a:solidFill>
              <a:srgbClr val="0c2a3f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" name=""/>
          <p:cNvSpPr/>
          <p:nvPr/>
        </p:nvSpPr>
        <p:spPr>
          <a:xfrm>
            <a:off x="378000" y="216000"/>
            <a:ext cx="11088000" cy="324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700" spc="-1" strike="noStrike">
                <a:solidFill>
                  <a:srgbClr val="f8fafc"/>
                </a:solidFill>
                <a:latin typeface="Aptos"/>
              </a:rPr>
              <a:t>04 / Defense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"/>
          <p:cNvSpPr/>
          <p:nvPr/>
        </p:nvSpPr>
        <p:spPr>
          <a:xfrm>
            <a:off x="378000" y="835200"/>
            <a:ext cx="1548000" cy="216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txBody>
          <a:bodyPr lIns="90000" rIns="90000" tIns="-23400" bIns="-234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"/>
          <p:cNvSpPr/>
          <p:nvPr/>
        </p:nvSpPr>
        <p:spPr>
          <a:xfrm>
            <a:off x="1962000" y="835200"/>
            <a:ext cx="9504000" cy="6480"/>
          </a:xfrm>
          <a:prstGeom prst="rect">
            <a:avLst/>
          </a:prstGeom>
          <a:solidFill>
            <a:srgbClr val="31506a"/>
          </a:solidFill>
          <a:ln w="0">
            <a:solidFill>
              <a:srgbClr val="31506a"/>
            </a:solidFill>
          </a:ln>
        </p:spPr>
        <p:txBody>
          <a:bodyPr lIns="90000" rIns="90000" tIns="-38520" bIns="-385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" name=""/>
          <p:cNvSpPr/>
          <p:nvPr/>
        </p:nvSpPr>
        <p:spPr>
          <a:xfrm>
            <a:off x="10512000" y="6278400"/>
            <a:ext cx="900000" cy="1512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61200" bIns="43200" anchor="t" anchorCtr="1">
            <a:noAutofit/>
          </a:bodyPr>
          <a:p>
            <a:pPr algn="just"/>
            <a:r>
              <a:rPr b="1" lang="en-US" sz="1100" spc="-1" strike="noStrike">
                <a:solidFill>
                  <a:srgbClr val="9cb4c8"/>
                </a:solidFill>
                <a:latin typeface="Aptos"/>
              </a:rPr>
              <a:t>18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" name=""/>
          <p:cNvSpPr/>
          <p:nvPr/>
        </p:nvSpPr>
        <p:spPr>
          <a:xfrm>
            <a:off x="378000" y="6278400"/>
            <a:ext cx="4248000" cy="1512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61200" bIns="43200" anchor="t" anchorCtr="1">
            <a:noAutofit/>
          </a:bodyPr>
          <a:p>
            <a:r>
              <a:rPr b="0" lang="en-US" sz="1000" spc="-1" strike="noStrike">
                <a:solidFill>
                  <a:srgbClr val="6f879a"/>
                </a:solidFill>
                <a:latin typeface="Aptos"/>
              </a:rPr>
              <a:t>Materials adversarial learning forensic review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" name=""/>
          <p:cNvSpPr/>
          <p:nvPr/>
        </p:nvSpPr>
        <p:spPr>
          <a:xfrm>
            <a:off x="648000" y="1908000"/>
            <a:ext cx="10260000" cy="1404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3400" spc="-1" strike="noStrike">
                <a:solidFill>
                  <a:srgbClr val="f8fafc"/>
                </a:solidFill>
                <a:latin typeface="Aptos"/>
              </a:rPr>
              <a:t>Adversarial training helped locally, then hit its limits.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" name=""/>
          <p:cNvSpPr/>
          <p:nvPr/>
        </p:nvSpPr>
        <p:spPr>
          <a:xfrm>
            <a:off x="1620000" y="3528000"/>
            <a:ext cx="8280000" cy="432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0" lang="en-US" sz="1900" spc="-1" strike="noStrike">
                <a:solidFill>
                  <a:srgbClr val="9cb4c8"/>
                </a:solidFill>
                <a:latin typeface="Aptos"/>
              </a:rPr>
              <a:t>The deck states both sides: controlled improvements exist, but general chemical invariance is not established.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" name=""/>
          <p:cNvSpPr/>
          <p:nvPr/>
        </p:nvSpPr>
        <p:spPr>
          <a:xfrm>
            <a:off x="2952000" y="4230000"/>
            <a:ext cx="6048000" cy="288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txBody>
          <a:bodyPr lIns="90000" rIns="90000" tIns="-16200" bIns="-162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"/>
          <p:cNvSpPr/>
          <p:nvPr/>
        </p:nvSpPr>
        <p:spPr>
          <a:xfrm>
            <a:off x="0" y="0"/>
            <a:ext cx="11988000" cy="6732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" name=""/>
          <p:cNvSpPr/>
          <p:nvPr/>
        </p:nvSpPr>
        <p:spPr>
          <a:xfrm>
            <a:off x="0" y="0"/>
            <a:ext cx="151200" cy="6732000"/>
          </a:xfrm>
          <a:prstGeom prst="rect">
            <a:avLst/>
          </a:prstGeom>
          <a:solidFill>
            <a:srgbClr val="0c2a3f"/>
          </a:solidFill>
          <a:ln w="0">
            <a:solidFill>
              <a:srgbClr val="0c2a3f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"/>
          <p:cNvSpPr/>
          <p:nvPr/>
        </p:nvSpPr>
        <p:spPr>
          <a:xfrm>
            <a:off x="378000" y="216000"/>
            <a:ext cx="11088000" cy="324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700" spc="-1" strike="noStrike">
                <a:solidFill>
                  <a:srgbClr val="f8fafc"/>
                </a:solidFill>
                <a:latin typeface="Aptos"/>
              </a:rPr>
              <a:t>Defended Model: What Worked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" name=""/>
          <p:cNvSpPr/>
          <p:nvPr/>
        </p:nvSpPr>
        <p:spPr>
          <a:xfrm>
            <a:off x="388800" y="554400"/>
            <a:ext cx="8208000" cy="216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400" spc="-1" strike="noStrike">
                <a:solidFill>
                  <a:srgbClr val="9cb4c8"/>
                </a:solidFill>
                <a:latin typeface="Aptos"/>
              </a:rPr>
              <a:t>Local robustness improved in Phase 2B under controlled candidate sets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2" name=""/>
          <p:cNvSpPr/>
          <p:nvPr/>
        </p:nvSpPr>
        <p:spPr>
          <a:xfrm>
            <a:off x="378000" y="835200"/>
            <a:ext cx="1548000" cy="216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txBody>
          <a:bodyPr lIns="90000" rIns="90000" tIns="-23400" bIns="-234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"/>
          <p:cNvSpPr/>
          <p:nvPr/>
        </p:nvSpPr>
        <p:spPr>
          <a:xfrm>
            <a:off x="1962000" y="835200"/>
            <a:ext cx="9504000" cy="6480"/>
          </a:xfrm>
          <a:prstGeom prst="rect">
            <a:avLst/>
          </a:prstGeom>
          <a:solidFill>
            <a:srgbClr val="31506a"/>
          </a:solidFill>
          <a:ln w="0">
            <a:solidFill>
              <a:srgbClr val="31506a"/>
            </a:solidFill>
          </a:ln>
        </p:spPr>
        <p:txBody>
          <a:bodyPr lIns="90000" rIns="90000" tIns="-38520" bIns="-385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" name=""/>
          <p:cNvSpPr/>
          <p:nvPr/>
        </p:nvSpPr>
        <p:spPr>
          <a:xfrm>
            <a:off x="10512000" y="6278400"/>
            <a:ext cx="900000" cy="1512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61200" bIns="43200" anchor="t" anchorCtr="1">
            <a:noAutofit/>
          </a:bodyPr>
          <a:p>
            <a:pPr algn="just"/>
            <a:r>
              <a:rPr b="1" lang="en-US" sz="1100" spc="-1" strike="noStrike">
                <a:solidFill>
                  <a:srgbClr val="9cb4c8"/>
                </a:solidFill>
                <a:latin typeface="Aptos"/>
              </a:rPr>
              <a:t>19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"/>
          <p:cNvSpPr/>
          <p:nvPr/>
        </p:nvSpPr>
        <p:spPr>
          <a:xfrm>
            <a:off x="378000" y="6278400"/>
            <a:ext cx="4248000" cy="1512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61200" bIns="43200" anchor="t" anchorCtr="1">
            <a:noAutofit/>
          </a:bodyPr>
          <a:p>
            <a:r>
              <a:rPr b="0" lang="en-US" sz="1000" spc="-1" strike="noStrike">
                <a:solidFill>
                  <a:srgbClr val="6f879a"/>
                </a:solidFill>
                <a:latin typeface="Aptos"/>
              </a:rPr>
              <a:t>Materials adversarial learning forensic review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"/>
          <p:cNvSpPr/>
          <p:nvPr/>
        </p:nvSpPr>
        <p:spPr>
          <a:xfrm>
            <a:off x="468000" y="1296000"/>
            <a:ext cx="4788000" cy="360000"/>
          </a:xfrm>
          <a:prstGeom prst="rect">
            <a:avLst/>
          </a:prstGeom>
          <a:solidFill>
            <a:srgbClr val="102b42"/>
          </a:solidFill>
          <a:ln w="0">
            <a:solidFill>
              <a:srgbClr val="38bdf8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1700" spc="-1" strike="noStrike">
                <a:solidFill>
                  <a:srgbClr val="f8fafc"/>
                </a:solidFill>
                <a:latin typeface="Aptos"/>
              </a:rPr>
              <a:t>substitution baseline mean drift: 12.97 K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7" name=""/>
          <p:cNvSpPr/>
          <p:nvPr/>
        </p:nvSpPr>
        <p:spPr>
          <a:xfrm>
            <a:off x="5544000" y="1296000"/>
            <a:ext cx="4788000" cy="360000"/>
          </a:xfrm>
          <a:prstGeom prst="rect">
            <a:avLst/>
          </a:prstGeom>
          <a:solidFill>
            <a:srgbClr val="102b42"/>
          </a:solidFill>
          <a:ln w="0">
            <a:solidFill>
              <a:srgbClr val="22c55e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1700" spc="-1" strike="noStrike">
                <a:solidFill>
                  <a:srgbClr val="f8fafc"/>
                </a:solidFill>
                <a:latin typeface="Aptos"/>
              </a:rPr>
              <a:t>defended: 7.02 K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" name=""/>
          <p:cNvSpPr/>
          <p:nvPr/>
        </p:nvSpPr>
        <p:spPr>
          <a:xfrm>
            <a:off x="468000" y="1908000"/>
            <a:ext cx="4788000" cy="360000"/>
          </a:xfrm>
          <a:prstGeom prst="rect">
            <a:avLst/>
          </a:prstGeom>
          <a:solidFill>
            <a:srgbClr val="102b42"/>
          </a:solidFill>
          <a:ln w="0">
            <a:solidFill>
              <a:srgbClr val="38bdf8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1700" spc="-1" strike="noStrike">
                <a:solidFill>
                  <a:srgbClr val="f8fafc"/>
                </a:solidFill>
                <a:latin typeface="Aptos"/>
              </a:rPr>
              <a:t>insertion baseline mean drift: 30.67 K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" name=""/>
          <p:cNvSpPr/>
          <p:nvPr/>
        </p:nvSpPr>
        <p:spPr>
          <a:xfrm>
            <a:off x="5544000" y="1908000"/>
            <a:ext cx="4788000" cy="360000"/>
          </a:xfrm>
          <a:prstGeom prst="rect">
            <a:avLst/>
          </a:prstGeom>
          <a:solidFill>
            <a:srgbClr val="102b42"/>
          </a:solidFill>
          <a:ln w="0">
            <a:solidFill>
              <a:srgbClr val="22c55e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1700" spc="-1" strike="noStrike">
                <a:solidFill>
                  <a:srgbClr val="f8fafc"/>
                </a:solidFill>
                <a:latin typeface="Aptos"/>
              </a:rPr>
              <a:t>defended: 19.29 K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" name=""/>
          <p:cNvSpPr/>
          <p:nvPr/>
        </p:nvSpPr>
        <p:spPr>
          <a:xfrm>
            <a:off x="468000" y="2520000"/>
            <a:ext cx="4788000" cy="360000"/>
          </a:xfrm>
          <a:prstGeom prst="rect">
            <a:avLst/>
          </a:prstGeom>
          <a:solidFill>
            <a:srgbClr val="102b42"/>
          </a:solidFill>
          <a:ln w="0">
            <a:solidFill>
              <a:srgbClr val="38bdf8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1700" spc="-1" strike="noStrike">
                <a:solidFill>
                  <a:srgbClr val="f8fafc"/>
                </a:solidFill>
                <a:latin typeface="Aptos"/>
              </a:rPr>
              <a:t>deletion baseline mean drift: 30.73 K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" name=""/>
          <p:cNvSpPr/>
          <p:nvPr/>
        </p:nvSpPr>
        <p:spPr>
          <a:xfrm>
            <a:off x="5544000" y="2520000"/>
            <a:ext cx="4788000" cy="360000"/>
          </a:xfrm>
          <a:prstGeom prst="rect">
            <a:avLst/>
          </a:prstGeom>
          <a:solidFill>
            <a:srgbClr val="102b42"/>
          </a:solidFill>
          <a:ln w="0">
            <a:solidFill>
              <a:srgbClr val="22c55e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1700" spc="-1" strike="noStrike">
                <a:solidFill>
                  <a:srgbClr val="f8fafc"/>
                </a:solidFill>
                <a:latin typeface="Aptos"/>
              </a:rPr>
              <a:t>defended: 16.81 K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2" name=""/>
          <p:cNvSpPr/>
          <p:nvPr/>
        </p:nvSpPr>
        <p:spPr>
          <a:xfrm>
            <a:off x="468000" y="3132000"/>
            <a:ext cx="4788000" cy="360000"/>
          </a:xfrm>
          <a:prstGeom prst="rect">
            <a:avLst/>
          </a:prstGeom>
          <a:solidFill>
            <a:srgbClr val="102b42"/>
          </a:solidFill>
          <a:ln w="0">
            <a:solidFill>
              <a:srgbClr val="38bdf8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1700" spc="-1" strike="noStrike">
                <a:solidFill>
                  <a:srgbClr val="f8fafc"/>
                </a:solidFill>
                <a:latin typeface="Aptos"/>
              </a:rPr>
              <a:t>rearrangement baseline mean drift: 7.99 K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"/>
          <p:cNvSpPr/>
          <p:nvPr/>
        </p:nvSpPr>
        <p:spPr>
          <a:xfrm>
            <a:off x="5544000" y="3132000"/>
            <a:ext cx="4788000" cy="360000"/>
          </a:xfrm>
          <a:prstGeom prst="rect">
            <a:avLst/>
          </a:prstGeom>
          <a:solidFill>
            <a:srgbClr val="102b42"/>
          </a:solidFill>
          <a:ln w="0">
            <a:solidFill>
              <a:srgbClr val="f59e0b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1700" spc="-1" strike="noStrike">
                <a:solidFill>
                  <a:srgbClr val="f8fafc"/>
                </a:solidFill>
                <a:latin typeface="Aptos"/>
              </a:rPr>
              <a:t>defended: 8.02 K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" name=""/>
          <p:cNvSpPr/>
          <p:nvPr/>
        </p:nvSpPr>
        <p:spPr>
          <a:xfrm>
            <a:off x="1512000" y="4032000"/>
            <a:ext cx="8496000" cy="540000"/>
          </a:xfrm>
          <a:prstGeom prst="rect">
            <a:avLst/>
          </a:prstGeom>
          <a:solidFill>
            <a:srgbClr val="13283a"/>
          </a:solidFill>
          <a:ln w="0">
            <a:solidFill>
              <a:srgbClr val="22c55e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2100" spc="-1" strike="noStrike">
                <a:solidFill>
                  <a:srgbClr val="f8fafc"/>
                </a:solidFill>
                <a:latin typeface="Aptos"/>
              </a:rPr>
              <a:t>Pooled Phase 2B mean drift dropped by 8.48 K; 63.9% of paired candidates improved.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"/>
          <p:cNvSpPr/>
          <p:nvPr/>
        </p:nvSpPr>
        <p:spPr>
          <a:xfrm>
            <a:off x="0" y="0"/>
            <a:ext cx="11988000" cy="6732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6" name=""/>
          <p:cNvSpPr/>
          <p:nvPr/>
        </p:nvSpPr>
        <p:spPr>
          <a:xfrm>
            <a:off x="0" y="0"/>
            <a:ext cx="151200" cy="6732000"/>
          </a:xfrm>
          <a:prstGeom prst="rect">
            <a:avLst/>
          </a:prstGeom>
          <a:solidFill>
            <a:srgbClr val="0c2a3f"/>
          </a:solidFill>
          <a:ln w="0">
            <a:solidFill>
              <a:srgbClr val="0c2a3f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7" name=""/>
          <p:cNvSpPr/>
          <p:nvPr/>
        </p:nvSpPr>
        <p:spPr>
          <a:xfrm>
            <a:off x="378000" y="216000"/>
            <a:ext cx="11088000" cy="324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700" spc="-1" strike="noStrike">
                <a:solidFill>
                  <a:srgbClr val="f8fafc"/>
                </a:solidFill>
                <a:latin typeface="Aptos"/>
              </a:rPr>
              <a:t>Defended Model: What Failed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" name=""/>
          <p:cNvSpPr/>
          <p:nvPr/>
        </p:nvSpPr>
        <p:spPr>
          <a:xfrm>
            <a:off x="388800" y="554400"/>
            <a:ext cx="8208000" cy="216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400" spc="-1" strike="noStrike">
                <a:solidFill>
                  <a:srgbClr val="9cb4c8"/>
                </a:solidFill>
                <a:latin typeface="Aptos"/>
              </a:rPr>
              <a:t>Replication and label assumptions weaken the defense claim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9" name=""/>
          <p:cNvSpPr/>
          <p:nvPr/>
        </p:nvSpPr>
        <p:spPr>
          <a:xfrm>
            <a:off x="378000" y="835200"/>
            <a:ext cx="1548000" cy="216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txBody>
          <a:bodyPr lIns="90000" rIns="90000" tIns="-23400" bIns="-234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"/>
          <p:cNvSpPr/>
          <p:nvPr/>
        </p:nvSpPr>
        <p:spPr>
          <a:xfrm>
            <a:off x="1962000" y="835200"/>
            <a:ext cx="9504000" cy="6480"/>
          </a:xfrm>
          <a:prstGeom prst="rect">
            <a:avLst/>
          </a:prstGeom>
          <a:solidFill>
            <a:srgbClr val="31506a"/>
          </a:solidFill>
          <a:ln w="0">
            <a:solidFill>
              <a:srgbClr val="31506a"/>
            </a:solidFill>
          </a:ln>
        </p:spPr>
        <p:txBody>
          <a:bodyPr lIns="90000" rIns="90000" tIns="-38520" bIns="-385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1" name=""/>
          <p:cNvSpPr/>
          <p:nvPr/>
        </p:nvSpPr>
        <p:spPr>
          <a:xfrm>
            <a:off x="10512000" y="6278400"/>
            <a:ext cx="900000" cy="1512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61200" bIns="43200" anchor="t" anchorCtr="1">
            <a:noAutofit/>
          </a:bodyPr>
          <a:p>
            <a:pPr algn="just"/>
            <a:r>
              <a:rPr b="1" lang="en-US" sz="1100" spc="-1" strike="noStrike">
                <a:solidFill>
                  <a:srgbClr val="9cb4c8"/>
                </a:solidFill>
                <a:latin typeface="Aptos"/>
              </a:rPr>
              <a:t>20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2" name=""/>
          <p:cNvSpPr/>
          <p:nvPr/>
        </p:nvSpPr>
        <p:spPr>
          <a:xfrm>
            <a:off x="378000" y="6278400"/>
            <a:ext cx="4248000" cy="1512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61200" bIns="43200" anchor="t" anchorCtr="1">
            <a:noAutofit/>
          </a:bodyPr>
          <a:p>
            <a:r>
              <a:rPr b="0" lang="en-US" sz="1000" spc="-1" strike="noStrike">
                <a:solidFill>
                  <a:srgbClr val="6f879a"/>
                </a:solidFill>
                <a:latin typeface="Aptos"/>
              </a:rPr>
              <a:t>Materials adversarial learning forensic review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3" name=""/>
          <p:cNvSpPr/>
          <p:nvPr/>
        </p:nvSpPr>
        <p:spPr>
          <a:xfrm>
            <a:off x="468000" y="1260000"/>
            <a:ext cx="5220000" cy="3312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9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1900" spc="-1" strike="noStrike">
                <a:solidFill>
                  <a:srgbClr val="f8fafc"/>
                </a:solidFill>
                <a:latin typeface="Aptos"/>
              </a:rPr>
              <a:t>Phase 2C used five seeds: 20260815-20260819.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1900" spc="-1" strike="noStrike">
                <a:solidFill>
                  <a:srgbClr val="f8fafc"/>
                </a:solidFill>
                <a:latin typeface="Aptos"/>
              </a:rPr>
              <a:t>Clean evaluation remained validation-only for selection; manifest says the test set was never loaded.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1900" spc="-1" strike="noStrike">
                <a:solidFill>
                  <a:srgbClr val="f8fafc"/>
                </a:solidFill>
                <a:latin typeface="Aptos"/>
              </a:rPr>
              <a:t>The apparent Phase 2A improvement was mostly scaler mismatch; only 23.7% survived controlled decoding.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1900" spc="-1" strike="noStrike">
                <a:solidFill>
                  <a:srgbClr val="f8fafc"/>
                </a:solidFill>
                <a:latin typeface="Aptos"/>
              </a:rPr>
              <a:t>No current attack family is a valid representation-level label-preserving attack.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4" name=""/>
          <p:cNvSpPr/>
          <p:nvPr/>
        </p:nvSpPr>
        <p:spPr>
          <a:xfrm>
            <a:off x="6336000" y="1512000"/>
            <a:ext cx="4176000" cy="1800000"/>
          </a:xfrm>
          <a:prstGeom prst="rect">
            <a:avLst/>
          </a:prstGeom>
          <a:solidFill>
            <a:srgbClr val="271a1a"/>
          </a:solidFill>
          <a:ln w="0">
            <a:solidFill>
              <a:srgbClr val="ef4444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300" spc="-1" strike="noStrike">
                <a:solidFill>
                  <a:srgbClr val="f8fafc"/>
                </a:solidFill>
                <a:latin typeface="Aptos"/>
              </a:rPr>
              <a:t>Bottom line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  <a:p>
            <a:r>
              <a:rPr b="1" lang="en-US" sz="2300" spc="-1" strike="noStrike">
                <a:solidFill>
                  <a:srgbClr val="f8fafc"/>
                </a:solidFill>
                <a:latin typeface="Aptos"/>
              </a:rPr>
              <a:t>Adversarial training may reduce seen-family drift locally, but it does not yet prove chemical invariance or general robust learning.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"/>
          <p:cNvSpPr/>
          <p:nvPr/>
        </p:nvSpPr>
        <p:spPr>
          <a:xfrm>
            <a:off x="0" y="0"/>
            <a:ext cx="11988000" cy="6732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" name=""/>
          <p:cNvSpPr/>
          <p:nvPr/>
        </p:nvSpPr>
        <p:spPr>
          <a:xfrm>
            <a:off x="0" y="0"/>
            <a:ext cx="151200" cy="6732000"/>
          </a:xfrm>
          <a:prstGeom prst="rect">
            <a:avLst/>
          </a:prstGeom>
          <a:solidFill>
            <a:srgbClr val="0c2a3f"/>
          </a:solidFill>
          <a:ln w="0">
            <a:solidFill>
              <a:srgbClr val="0c2a3f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7" name=""/>
          <p:cNvSpPr/>
          <p:nvPr/>
        </p:nvSpPr>
        <p:spPr>
          <a:xfrm>
            <a:off x="378000" y="216000"/>
            <a:ext cx="11088000" cy="324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700" spc="-1" strike="noStrike">
                <a:solidFill>
                  <a:srgbClr val="f8fafc"/>
                </a:solidFill>
                <a:latin typeface="Aptos"/>
              </a:rPr>
              <a:t>05 / Conclusions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" name=""/>
          <p:cNvSpPr/>
          <p:nvPr/>
        </p:nvSpPr>
        <p:spPr>
          <a:xfrm>
            <a:off x="378000" y="835200"/>
            <a:ext cx="1548000" cy="216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txBody>
          <a:bodyPr lIns="90000" rIns="90000" tIns="-23400" bIns="-234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"/>
          <p:cNvSpPr/>
          <p:nvPr/>
        </p:nvSpPr>
        <p:spPr>
          <a:xfrm>
            <a:off x="1962000" y="835200"/>
            <a:ext cx="9504000" cy="6480"/>
          </a:xfrm>
          <a:prstGeom prst="rect">
            <a:avLst/>
          </a:prstGeom>
          <a:solidFill>
            <a:srgbClr val="31506a"/>
          </a:solidFill>
          <a:ln w="0">
            <a:solidFill>
              <a:srgbClr val="31506a"/>
            </a:solidFill>
          </a:ln>
        </p:spPr>
        <p:txBody>
          <a:bodyPr lIns="90000" rIns="90000" tIns="-38520" bIns="-385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" name=""/>
          <p:cNvSpPr/>
          <p:nvPr/>
        </p:nvSpPr>
        <p:spPr>
          <a:xfrm>
            <a:off x="10512000" y="6278400"/>
            <a:ext cx="900000" cy="1512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61200" bIns="43200" anchor="t" anchorCtr="1">
            <a:noAutofit/>
          </a:bodyPr>
          <a:p>
            <a:pPr algn="just"/>
            <a:r>
              <a:rPr b="1" lang="en-US" sz="1100" spc="-1" strike="noStrike">
                <a:solidFill>
                  <a:srgbClr val="9cb4c8"/>
                </a:solidFill>
                <a:latin typeface="Aptos"/>
              </a:rPr>
              <a:t>21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1" name=""/>
          <p:cNvSpPr/>
          <p:nvPr/>
        </p:nvSpPr>
        <p:spPr>
          <a:xfrm>
            <a:off x="378000" y="6278400"/>
            <a:ext cx="4248000" cy="1512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61200" bIns="43200" anchor="t" anchorCtr="1">
            <a:noAutofit/>
          </a:bodyPr>
          <a:p>
            <a:r>
              <a:rPr b="0" lang="en-US" sz="1000" spc="-1" strike="noStrike">
                <a:solidFill>
                  <a:srgbClr val="6f879a"/>
                </a:solidFill>
                <a:latin typeface="Aptos"/>
              </a:rPr>
              <a:t>Materials adversarial learning forensic review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2" name=""/>
          <p:cNvSpPr/>
          <p:nvPr/>
        </p:nvSpPr>
        <p:spPr>
          <a:xfrm>
            <a:off x="648000" y="1908000"/>
            <a:ext cx="10260000" cy="1404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3400" spc="-1" strike="noStrike">
                <a:solidFill>
                  <a:srgbClr val="f8fafc"/>
                </a:solidFill>
                <a:latin typeface="Aptos"/>
              </a:rPr>
              <a:t>The final answer is sharper because it is narrower.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" name=""/>
          <p:cNvSpPr/>
          <p:nvPr/>
        </p:nvSpPr>
        <p:spPr>
          <a:xfrm>
            <a:off x="1620000" y="3528000"/>
            <a:ext cx="8280000" cy="432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0" lang="en-US" sz="1900" spc="-1" strike="noStrike">
                <a:solidFill>
                  <a:srgbClr val="9cb4c8"/>
                </a:solidFill>
                <a:latin typeface="Aptos"/>
              </a:rPr>
              <a:t>Publish the honest claim: instability is real; the length story and label-preservation assumption need repair.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4" name=""/>
          <p:cNvSpPr/>
          <p:nvPr/>
        </p:nvSpPr>
        <p:spPr>
          <a:xfrm>
            <a:off x="2952000" y="4230000"/>
            <a:ext cx="6048000" cy="288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txBody>
          <a:bodyPr lIns="90000" rIns="90000" tIns="-16200" bIns="-162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"/>
          <p:cNvSpPr/>
          <p:nvPr/>
        </p:nvSpPr>
        <p:spPr>
          <a:xfrm>
            <a:off x="0" y="0"/>
            <a:ext cx="11988000" cy="6732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" name=""/>
          <p:cNvSpPr/>
          <p:nvPr/>
        </p:nvSpPr>
        <p:spPr>
          <a:xfrm>
            <a:off x="0" y="0"/>
            <a:ext cx="151200" cy="6732000"/>
          </a:xfrm>
          <a:prstGeom prst="rect">
            <a:avLst/>
          </a:prstGeom>
          <a:solidFill>
            <a:srgbClr val="0c2a3f"/>
          </a:solidFill>
          <a:ln w="0">
            <a:solidFill>
              <a:srgbClr val="0c2a3f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7" name=""/>
          <p:cNvSpPr/>
          <p:nvPr/>
        </p:nvSpPr>
        <p:spPr>
          <a:xfrm>
            <a:off x="378000" y="216000"/>
            <a:ext cx="11088000" cy="324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700" spc="-1" strike="noStrike">
                <a:solidFill>
                  <a:srgbClr val="f8fafc"/>
                </a:solidFill>
                <a:latin typeface="Aptos"/>
              </a:rPr>
              <a:t>Research Questions Answered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8" name=""/>
          <p:cNvSpPr/>
          <p:nvPr/>
        </p:nvSpPr>
        <p:spPr>
          <a:xfrm>
            <a:off x="388800" y="554400"/>
            <a:ext cx="8208000" cy="216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400" spc="-1" strike="noStrike">
                <a:solidFill>
                  <a:srgbClr val="9cb4c8"/>
                </a:solidFill>
                <a:latin typeface="Aptos"/>
              </a:rPr>
              <a:t>Exact answer from the audit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9" name=""/>
          <p:cNvSpPr/>
          <p:nvPr/>
        </p:nvSpPr>
        <p:spPr>
          <a:xfrm>
            <a:off x="378000" y="835200"/>
            <a:ext cx="1548000" cy="216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txBody>
          <a:bodyPr lIns="90000" rIns="90000" tIns="-23400" bIns="-234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"/>
          <p:cNvSpPr/>
          <p:nvPr/>
        </p:nvSpPr>
        <p:spPr>
          <a:xfrm>
            <a:off x="1962000" y="835200"/>
            <a:ext cx="9504000" cy="6480"/>
          </a:xfrm>
          <a:prstGeom prst="rect">
            <a:avLst/>
          </a:prstGeom>
          <a:solidFill>
            <a:srgbClr val="31506a"/>
          </a:solidFill>
          <a:ln w="0">
            <a:solidFill>
              <a:srgbClr val="31506a"/>
            </a:solidFill>
          </a:ln>
        </p:spPr>
        <p:txBody>
          <a:bodyPr lIns="90000" rIns="90000" tIns="-38520" bIns="-385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1" name=""/>
          <p:cNvSpPr/>
          <p:nvPr/>
        </p:nvSpPr>
        <p:spPr>
          <a:xfrm>
            <a:off x="10512000" y="6278400"/>
            <a:ext cx="900000" cy="1512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61200" bIns="43200" anchor="t" anchorCtr="1">
            <a:noAutofit/>
          </a:bodyPr>
          <a:p>
            <a:pPr algn="just"/>
            <a:r>
              <a:rPr b="1" lang="en-US" sz="1100" spc="-1" strike="noStrike">
                <a:solidFill>
                  <a:srgbClr val="9cb4c8"/>
                </a:solidFill>
                <a:latin typeface="Aptos"/>
              </a:rPr>
              <a:t>22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2" name=""/>
          <p:cNvSpPr/>
          <p:nvPr/>
        </p:nvSpPr>
        <p:spPr>
          <a:xfrm>
            <a:off x="378000" y="6278400"/>
            <a:ext cx="4248000" cy="1512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61200" bIns="43200" anchor="t" anchorCtr="1">
            <a:noAutofit/>
          </a:bodyPr>
          <a:p>
            <a:r>
              <a:rPr b="0" lang="en-US" sz="1000" spc="-1" strike="noStrike">
                <a:solidFill>
                  <a:srgbClr val="6f879a"/>
                </a:solidFill>
                <a:latin typeface="Aptos"/>
              </a:rPr>
              <a:t>Materials adversarial learning forensic review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3" name=""/>
          <p:cNvSpPr/>
          <p:nvPr/>
        </p:nvSpPr>
        <p:spPr>
          <a:xfrm>
            <a:off x="504000" y="1242000"/>
            <a:ext cx="1152000" cy="414000"/>
          </a:xfrm>
          <a:prstGeom prst="rect">
            <a:avLst/>
          </a:prstGeom>
          <a:solidFill>
            <a:srgbClr val="22c55e"/>
          </a:solidFill>
          <a:ln w="0">
            <a:solidFill>
              <a:srgbClr val="22c55e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2400" spc="-1" strike="noStrike">
                <a:solidFill>
                  <a:srgbClr val="061019"/>
                </a:solidFill>
                <a:latin typeface="Aptos"/>
              </a:rPr>
              <a:t>RQ1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4" name=""/>
          <p:cNvSpPr/>
          <p:nvPr/>
        </p:nvSpPr>
        <p:spPr>
          <a:xfrm>
            <a:off x="1800000" y="1242000"/>
            <a:ext cx="9072000" cy="414000"/>
          </a:xfrm>
          <a:prstGeom prst="rect">
            <a:avLst/>
          </a:prstGeom>
          <a:solidFill>
            <a:srgbClr val="102b42"/>
          </a:solidFill>
          <a:ln w="0">
            <a:solidFill>
              <a:srgbClr val="31506a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1900" spc="-1" strike="noStrike">
                <a:solidFill>
                  <a:srgbClr val="f8fafc"/>
                </a:solidFill>
                <a:latin typeface="Aptos"/>
              </a:rPr>
              <a:t>Yes, model instability exists: 20-40 K drift under token perturbation.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5" name=""/>
          <p:cNvSpPr/>
          <p:nvPr/>
        </p:nvSpPr>
        <p:spPr>
          <a:xfrm>
            <a:off x="504000" y="1908000"/>
            <a:ext cx="1152000" cy="414000"/>
          </a:xfrm>
          <a:prstGeom prst="rect">
            <a:avLst/>
          </a:prstGeom>
          <a:solidFill>
            <a:srgbClr val="ef4444"/>
          </a:solidFill>
          <a:ln w="0">
            <a:solidFill>
              <a:srgbClr val="ef4444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2400" spc="-1" strike="noStrike">
                <a:solidFill>
                  <a:srgbClr val="061019"/>
                </a:solidFill>
                <a:latin typeface="Aptos"/>
              </a:rPr>
              <a:t>RQ2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6" name=""/>
          <p:cNvSpPr/>
          <p:nvPr/>
        </p:nvSpPr>
        <p:spPr>
          <a:xfrm>
            <a:off x="1800000" y="1908000"/>
            <a:ext cx="9072000" cy="414000"/>
          </a:xfrm>
          <a:prstGeom prst="rect">
            <a:avLst/>
          </a:prstGeom>
          <a:solidFill>
            <a:srgbClr val="102b42"/>
          </a:solidFill>
          <a:ln w="0">
            <a:solidFill>
              <a:srgbClr val="31506a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1900" spc="-1" strike="noStrike">
                <a:solidFill>
                  <a:srgbClr val="f8fafc"/>
                </a:solidFill>
                <a:latin typeface="Aptos"/>
              </a:rPr>
              <a:t>No. Length is not the mechanism; length-preserving shuffle/reverse are equally disruptive.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7" name=""/>
          <p:cNvSpPr/>
          <p:nvPr/>
        </p:nvSpPr>
        <p:spPr>
          <a:xfrm>
            <a:off x="504000" y="2574000"/>
            <a:ext cx="1152000" cy="4140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2400" spc="-1" strike="noStrike">
                <a:solidFill>
                  <a:srgbClr val="061019"/>
                </a:solidFill>
                <a:latin typeface="Aptos"/>
              </a:rPr>
              <a:t>RQ3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"/>
          <p:cNvSpPr/>
          <p:nvPr/>
        </p:nvSpPr>
        <p:spPr>
          <a:xfrm>
            <a:off x="1800000" y="2574000"/>
            <a:ext cx="9072000" cy="414000"/>
          </a:xfrm>
          <a:prstGeom prst="rect">
            <a:avLst/>
          </a:prstGeom>
          <a:solidFill>
            <a:srgbClr val="102b42"/>
          </a:solidFill>
          <a:ln w="0">
            <a:solidFill>
              <a:srgbClr val="31506a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1900" spc="-1" strike="noStrike">
                <a:solidFill>
                  <a:srgbClr val="f8fafc"/>
                </a:solidFill>
                <a:latin typeface="Aptos"/>
              </a:rPr>
              <a:t>Only partly. Seen-family/local improvements exist, but generalization is not established.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9" name=""/>
          <p:cNvSpPr/>
          <p:nvPr/>
        </p:nvSpPr>
        <p:spPr>
          <a:xfrm>
            <a:off x="504000" y="3240000"/>
            <a:ext cx="1152000" cy="414000"/>
          </a:xfrm>
          <a:prstGeom prst="rect">
            <a:avLst/>
          </a:prstGeom>
          <a:solidFill>
            <a:srgbClr val="ef4444"/>
          </a:solidFill>
          <a:ln w="0">
            <a:solidFill>
              <a:srgbClr val="ef4444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2400" spc="-1" strike="noStrike">
                <a:solidFill>
                  <a:srgbClr val="061019"/>
                </a:solidFill>
                <a:latin typeface="Aptos"/>
              </a:rPr>
              <a:t>RQ4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0" name=""/>
          <p:cNvSpPr/>
          <p:nvPr/>
        </p:nvSpPr>
        <p:spPr>
          <a:xfrm>
            <a:off x="1800000" y="3240000"/>
            <a:ext cx="9072000" cy="414000"/>
          </a:xfrm>
          <a:prstGeom prst="rect">
            <a:avLst/>
          </a:prstGeom>
          <a:solidFill>
            <a:srgbClr val="102b42"/>
          </a:solidFill>
          <a:ln w="0">
            <a:solidFill>
              <a:srgbClr val="31506a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1900" spc="-1" strike="noStrike">
                <a:solidFill>
                  <a:srgbClr val="f8fafc"/>
                </a:solidFill>
                <a:latin typeface="Aptos"/>
              </a:rPr>
              <a:t>No. Current attack families change chemistry or isomerize; none is a clean representation-level attack.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1" name=""/>
          <p:cNvSpPr/>
          <p:nvPr/>
        </p:nvSpPr>
        <p:spPr>
          <a:xfrm>
            <a:off x="504000" y="3906000"/>
            <a:ext cx="1152000" cy="4140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2400" spc="-1" strike="noStrike">
                <a:solidFill>
                  <a:srgbClr val="061019"/>
                </a:solidFill>
                <a:latin typeface="Aptos"/>
              </a:rPr>
              <a:t>RQ5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"/>
          <p:cNvSpPr/>
          <p:nvPr/>
        </p:nvSpPr>
        <p:spPr>
          <a:xfrm>
            <a:off x="1800000" y="3906000"/>
            <a:ext cx="9072000" cy="414000"/>
          </a:xfrm>
          <a:prstGeom prst="rect">
            <a:avLst/>
          </a:prstGeom>
          <a:solidFill>
            <a:srgbClr val="102b42"/>
          </a:solidFill>
          <a:ln w="0">
            <a:solidFill>
              <a:srgbClr val="31506a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1900" spc="-1" strike="noStrike">
                <a:solidFill>
                  <a:srgbClr val="f8fafc"/>
                </a:solidFill>
                <a:latin typeface="Aptos"/>
              </a:rPr>
              <a:t>Need SMILES randomization, matched budgets, CV baselines, and pooling/position ablations.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"/>
          <p:cNvSpPr/>
          <p:nvPr/>
        </p:nvSpPr>
        <p:spPr>
          <a:xfrm>
            <a:off x="0" y="0"/>
            <a:ext cx="11988000" cy="6732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4" name=""/>
          <p:cNvSpPr/>
          <p:nvPr/>
        </p:nvSpPr>
        <p:spPr>
          <a:xfrm>
            <a:off x="0" y="0"/>
            <a:ext cx="151200" cy="6732000"/>
          </a:xfrm>
          <a:prstGeom prst="rect">
            <a:avLst/>
          </a:prstGeom>
          <a:solidFill>
            <a:srgbClr val="0c2a3f"/>
          </a:solidFill>
          <a:ln w="0">
            <a:solidFill>
              <a:srgbClr val="0c2a3f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5" name=""/>
          <p:cNvSpPr/>
          <p:nvPr/>
        </p:nvSpPr>
        <p:spPr>
          <a:xfrm>
            <a:off x="378000" y="216000"/>
            <a:ext cx="11088000" cy="324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700" spc="-1" strike="noStrike">
                <a:solidFill>
                  <a:srgbClr val="f8fafc"/>
                </a:solidFill>
                <a:latin typeface="Aptos"/>
              </a:rPr>
              <a:t>Limitations And Exact Gaps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6" name=""/>
          <p:cNvSpPr/>
          <p:nvPr/>
        </p:nvSpPr>
        <p:spPr>
          <a:xfrm>
            <a:off x="388800" y="554400"/>
            <a:ext cx="8208000" cy="216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400" spc="-1" strike="noStrike">
                <a:solidFill>
                  <a:srgbClr val="9cb4c8"/>
                </a:solidFill>
                <a:latin typeface="Aptos"/>
              </a:rPr>
              <a:t>Drawbacks stated plainly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7" name=""/>
          <p:cNvSpPr/>
          <p:nvPr/>
        </p:nvSpPr>
        <p:spPr>
          <a:xfrm>
            <a:off x="378000" y="835200"/>
            <a:ext cx="1548000" cy="216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txBody>
          <a:bodyPr lIns="90000" rIns="90000" tIns="-23400" bIns="-234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"/>
          <p:cNvSpPr/>
          <p:nvPr/>
        </p:nvSpPr>
        <p:spPr>
          <a:xfrm>
            <a:off x="1962000" y="835200"/>
            <a:ext cx="9504000" cy="6480"/>
          </a:xfrm>
          <a:prstGeom prst="rect">
            <a:avLst/>
          </a:prstGeom>
          <a:solidFill>
            <a:srgbClr val="31506a"/>
          </a:solidFill>
          <a:ln w="0">
            <a:solidFill>
              <a:srgbClr val="31506a"/>
            </a:solidFill>
          </a:ln>
        </p:spPr>
        <p:txBody>
          <a:bodyPr lIns="90000" rIns="90000" tIns="-38520" bIns="-385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9" name=""/>
          <p:cNvSpPr/>
          <p:nvPr/>
        </p:nvSpPr>
        <p:spPr>
          <a:xfrm>
            <a:off x="10512000" y="6278400"/>
            <a:ext cx="900000" cy="1512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61200" bIns="43200" anchor="t" anchorCtr="1">
            <a:noAutofit/>
          </a:bodyPr>
          <a:p>
            <a:pPr algn="just"/>
            <a:r>
              <a:rPr b="1" lang="en-US" sz="1100" spc="-1" strike="noStrike">
                <a:solidFill>
                  <a:srgbClr val="9cb4c8"/>
                </a:solidFill>
                <a:latin typeface="Aptos"/>
              </a:rPr>
              <a:t>23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0" name=""/>
          <p:cNvSpPr/>
          <p:nvPr/>
        </p:nvSpPr>
        <p:spPr>
          <a:xfrm>
            <a:off x="378000" y="6278400"/>
            <a:ext cx="4248000" cy="1512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61200" bIns="43200" anchor="t" anchorCtr="1">
            <a:noAutofit/>
          </a:bodyPr>
          <a:p>
            <a:r>
              <a:rPr b="0" lang="en-US" sz="1000" spc="-1" strike="noStrike">
                <a:solidFill>
                  <a:srgbClr val="6f879a"/>
                </a:solidFill>
                <a:latin typeface="Aptos"/>
              </a:rPr>
              <a:t>Materials adversarial learning forensic review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1" name=""/>
          <p:cNvSpPr/>
          <p:nvPr/>
        </p:nvSpPr>
        <p:spPr>
          <a:xfrm>
            <a:off x="468000" y="1260000"/>
            <a:ext cx="10440000" cy="3492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20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000" spc="-1" strike="noStrike">
                <a:solidFill>
                  <a:srgbClr val="f8fafc"/>
                </a:solidFill>
                <a:latin typeface="Aptos"/>
              </a:rPr>
              <a:t>Tg test set has n=6, so clean-MAE comparisons are anecdotal.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0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000" spc="-1" strike="noStrike">
                <a:solidFill>
                  <a:srgbClr val="f8fafc"/>
                </a:solidFill>
                <a:latin typeface="Aptos"/>
              </a:rPr>
              <a:t>Scaffold split is confounded: train/val/test mean Tg = 330.7/384.5/463.2 K; mean token length = 22.6/43.5/56.7.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0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000" spc="-1" strike="noStrike">
                <a:solidFill>
                  <a:srgbClr val="f8fafc"/>
                </a:solidFill>
                <a:latin typeface="Aptos"/>
              </a:rPr>
              <a:t>Validity-conditioned drift is a survivorship filter; validity rates differ by family.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0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000" spc="-1" strike="noStrike">
                <a:solidFill>
                  <a:srgbClr val="f8fafc"/>
                </a:solidFill>
                <a:latin typeface="Aptos"/>
              </a:rPr>
              <a:t>Attack budgets are not matched, and max drift scales with candidate count.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0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000" spc="-1" strike="noStrike">
                <a:solidFill>
                  <a:srgbClr val="f8fafc"/>
                </a:solidFill>
                <a:latin typeface="Aptos"/>
              </a:rPr>
              <a:t>No ab initio, synthesis, or experimental validation confirms adversarial candidates preserve the true property.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0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000" spc="-1" strike="noStrike">
                <a:solidFill>
                  <a:srgbClr val="f8fafc"/>
                </a:solidFill>
                <a:latin typeface="Aptos"/>
              </a:rPr>
              <a:t>No implemented representation-level attack yet; SMILES randomization is the missing control.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"/>
          <p:cNvSpPr/>
          <p:nvPr/>
        </p:nvSpPr>
        <p:spPr>
          <a:xfrm>
            <a:off x="0" y="0"/>
            <a:ext cx="11988000" cy="6732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3" name=""/>
          <p:cNvSpPr/>
          <p:nvPr/>
        </p:nvSpPr>
        <p:spPr>
          <a:xfrm>
            <a:off x="0" y="0"/>
            <a:ext cx="151200" cy="6732000"/>
          </a:xfrm>
          <a:prstGeom prst="rect">
            <a:avLst/>
          </a:prstGeom>
          <a:solidFill>
            <a:srgbClr val="0c2a3f"/>
          </a:solidFill>
          <a:ln w="0">
            <a:solidFill>
              <a:srgbClr val="0c2a3f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4" name=""/>
          <p:cNvSpPr/>
          <p:nvPr/>
        </p:nvSpPr>
        <p:spPr>
          <a:xfrm>
            <a:off x="378000" y="216000"/>
            <a:ext cx="11088000" cy="324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700" spc="-1" strike="noStrike">
                <a:solidFill>
                  <a:srgbClr val="f8fafc"/>
                </a:solidFill>
                <a:latin typeface="Aptos"/>
              </a:rPr>
              <a:t>Novelty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5" name=""/>
          <p:cNvSpPr/>
          <p:nvPr/>
        </p:nvSpPr>
        <p:spPr>
          <a:xfrm>
            <a:off x="388800" y="554400"/>
            <a:ext cx="8208000" cy="216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400" spc="-1" strike="noStrike">
                <a:solidFill>
                  <a:srgbClr val="9cb4c8"/>
                </a:solidFill>
                <a:latin typeface="Aptos"/>
              </a:rPr>
              <a:t>What is actually new and defensible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6" name=""/>
          <p:cNvSpPr/>
          <p:nvPr/>
        </p:nvSpPr>
        <p:spPr>
          <a:xfrm>
            <a:off x="378000" y="835200"/>
            <a:ext cx="1548000" cy="216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txBody>
          <a:bodyPr lIns="90000" rIns="90000" tIns="-23400" bIns="-234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"/>
          <p:cNvSpPr/>
          <p:nvPr/>
        </p:nvSpPr>
        <p:spPr>
          <a:xfrm>
            <a:off x="1962000" y="835200"/>
            <a:ext cx="9504000" cy="6480"/>
          </a:xfrm>
          <a:prstGeom prst="rect">
            <a:avLst/>
          </a:prstGeom>
          <a:solidFill>
            <a:srgbClr val="31506a"/>
          </a:solidFill>
          <a:ln w="0">
            <a:solidFill>
              <a:srgbClr val="31506a"/>
            </a:solidFill>
          </a:ln>
        </p:spPr>
        <p:txBody>
          <a:bodyPr lIns="90000" rIns="90000" tIns="-38520" bIns="-385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8" name=""/>
          <p:cNvSpPr/>
          <p:nvPr/>
        </p:nvSpPr>
        <p:spPr>
          <a:xfrm>
            <a:off x="10512000" y="6278400"/>
            <a:ext cx="900000" cy="1512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61200" bIns="43200" anchor="t" anchorCtr="1">
            <a:noAutofit/>
          </a:bodyPr>
          <a:p>
            <a:pPr algn="just"/>
            <a:r>
              <a:rPr b="1" lang="en-US" sz="1100" spc="-1" strike="noStrike">
                <a:solidFill>
                  <a:srgbClr val="9cb4c8"/>
                </a:solidFill>
                <a:latin typeface="Aptos"/>
              </a:rPr>
              <a:t>24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9" name=""/>
          <p:cNvSpPr/>
          <p:nvPr/>
        </p:nvSpPr>
        <p:spPr>
          <a:xfrm>
            <a:off x="378000" y="6278400"/>
            <a:ext cx="4248000" cy="1512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61200" bIns="43200" anchor="t" anchorCtr="1">
            <a:noAutofit/>
          </a:bodyPr>
          <a:p>
            <a:r>
              <a:rPr b="0" lang="en-US" sz="1000" spc="-1" strike="noStrike">
                <a:solidFill>
                  <a:srgbClr val="6f879a"/>
                </a:solidFill>
                <a:latin typeface="Aptos"/>
              </a:rPr>
              <a:t>Materials adversarial learning forensic review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0" name=""/>
          <p:cNvSpPr/>
          <p:nvPr/>
        </p:nvSpPr>
        <p:spPr>
          <a:xfrm>
            <a:off x="468000" y="1296000"/>
            <a:ext cx="10512000" cy="3528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21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100" spc="-1" strike="noStrike">
                <a:solidFill>
                  <a:srgbClr val="f8fafc"/>
                </a:solidFill>
                <a:latin typeface="Aptos"/>
              </a:rPr>
              <a:t>A forensic audit that separates model instability from a false length-change mechanism.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1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100" spc="-1" strike="noStrike">
                <a:solidFill>
                  <a:srgbClr val="f8fafc"/>
                </a:solidFill>
                <a:latin typeface="Aptos"/>
              </a:rPr>
              <a:t>Direct architectural diagnosis tying drift to learned positional embeddings, masked mean pooling, and small-data training.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1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100" spc="-1" strike="noStrike">
                <a:solidFill>
                  <a:srgbClr val="f8fafc"/>
                </a:solidFill>
                <a:latin typeface="Aptos"/>
              </a:rPr>
              <a:t>Chemical-severity audit showing why attack-family comparisons were not controlled experiments.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1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100" spc="-1" strike="noStrike">
                <a:solidFill>
                  <a:srgbClr val="f8fafc"/>
                </a:solidFill>
                <a:latin typeface="Aptos"/>
              </a:rPr>
              <a:t>Replication across five seeds showing Phase 1F's causal story does not hold.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1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100" spc="-1" strike="noStrike">
                <a:solidFill>
                  <a:srgbClr val="f8fafc"/>
                </a:solidFill>
                <a:latin typeface="Aptos"/>
              </a:rPr>
              <a:t>A revised research program: representation-level SMILES randomization before bigger attacks or new architectures.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"/>
          <p:cNvSpPr/>
          <p:nvPr/>
        </p:nvSpPr>
        <p:spPr>
          <a:xfrm>
            <a:off x="0" y="0"/>
            <a:ext cx="11988000" cy="6732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2" name=""/>
          <p:cNvSpPr/>
          <p:nvPr/>
        </p:nvSpPr>
        <p:spPr>
          <a:xfrm>
            <a:off x="0" y="0"/>
            <a:ext cx="151200" cy="6732000"/>
          </a:xfrm>
          <a:prstGeom prst="rect">
            <a:avLst/>
          </a:prstGeom>
          <a:solidFill>
            <a:srgbClr val="0c2a3f"/>
          </a:solidFill>
          <a:ln w="0">
            <a:solidFill>
              <a:srgbClr val="0c2a3f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3" name=""/>
          <p:cNvSpPr/>
          <p:nvPr/>
        </p:nvSpPr>
        <p:spPr>
          <a:xfrm>
            <a:off x="378000" y="216000"/>
            <a:ext cx="11088000" cy="324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700" spc="-1" strike="noStrike">
                <a:solidFill>
                  <a:srgbClr val="f8fafc"/>
                </a:solidFill>
                <a:latin typeface="Aptos"/>
              </a:rPr>
              <a:t>Next Slide / Next Work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4" name=""/>
          <p:cNvSpPr/>
          <p:nvPr/>
        </p:nvSpPr>
        <p:spPr>
          <a:xfrm>
            <a:off x="388800" y="554400"/>
            <a:ext cx="8208000" cy="216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400" spc="-1" strike="noStrike">
                <a:solidFill>
                  <a:srgbClr val="9cb4c8"/>
                </a:solidFill>
                <a:latin typeface="Aptos"/>
              </a:rPr>
              <a:t>Use this as the closing action slide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5" name=""/>
          <p:cNvSpPr/>
          <p:nvPr/>
        </p:nvSpPr>
        <p:spPr>
          <a:xfrm>
            <a:off x="378000" y="835200"/>
            <a:ext cx="1548000" cy="216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txBody>
          <a:bodyPr lIns="90000" rIns="90000" tIns="-23400" bIns="-234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"/>
          <p:cNvSpPr/>
          <p:nvPr/>
        </p:nvSpPr>
        <p:spPr>
          <a:xfrm>
            <a:off x="1962000" y="835200"/>
            <a:ext cx="9504000" cy="6480"/>
          </a:xfrm>
          <a:prstGeom prst="rect">
            <a:avLst/>
          </a:prstGeom>
          <a:solidFill>
            <a:srgbClr val="31506a"/>
          </a:solidFill>
          <a:ln w="0">
            <a:solidFill>
              <a:srgbClr val="31506a"/>
            </a:solidFill>
          </a:ln>
        </p:spPr>
        <p:txBody>
          <a:bodyPr lIns="90000" rIns="90000" tIns="-38520" bIns="-385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7" name=""/>
          <p:cNvSpPr/>
          <p:nvPr/>
        </p:nvSpPr>
        <p:spPr>
          <a:xfrm>
            <a:off x="10512000" y="6278400"/>
            <a:ext cx="900000" cy="1512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61200" bIns="43200" anchor="t" anchorCtr="1">
            <a:noAutofit/>
          </a:bodyPr>
          <a:p>
            <a:pPr algn="just"/>
            <a:r>
              <a:rPr b="1" lang="en-US" sz="1100" spc="-1" strike="noStrike">
                <a:solidFill>
                  <a:srgbClr val="9cb4c8"/>
                </a:solidFill>
                <a:latin typeface="Aptos"/>
              </a:rPr>
              <a:t>25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8" name=""/>
          <p:cNvSpPr/>
          <p:nvPr/>
        </p:nvSpPr>
        <p:spPr>
          <a:xfrm>
            <a:off x="378000" y="6278400"/>
            <a:ext cx="4248000" cy="1512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61200" bIns="43200" anchor="t" anchorCtr="1">
            <a:noAutofit/>
          </a:bodyPr>
          <a:p>
            <a:r>
              <a:rPr b="0" lang="en-US" sz="1000" spc="-1" strike="noStrike">
                <a:solidFill>
                  <a:srgbClr val="6f879a"/>
                </a:solidFill>
                <a:latin typeface="Aptos"/>
              </a:rPr>
              <a:t>Materials adversarial learning forensic review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9" name=""/>
          <p:cNvSpPr/>
          <p:nvPr/>
        </p:nvSpPr>
        <p:spPr>
          <a:xfrm>
            <a:off x="576000" y="1224000"/>
            <a:ext cx="900000" cy="450000"/>
          </a:xfrm>
          <a:prstGeom prst="rect">
            <a:avLst/>
          </a:prstGeom>
          <a:solidFill>
            <a:srgbClr val="22c55e"/>
          </a:solidFill>
          <a:ln w="0">
            <a:solidFill>
              <a:srgbClr val="22c55e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2800" spc="-1" strike="noStrike">
                <a:solidFill>
                  <a:srgbClr val="061019"/>
                </a:solidFill>
                <a:latin typeface="Aptos"/>
              </a:rPr>
              <a:t>1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0" name=""/>
          <p:cNvSpPr/>
          <p:nvPr/>
        </p:nvSpPr>
        <p:spPr>
          <a:xfrm>
            <a:off x="1620000" y="1224000"/>
            <a:ext cx="9360000" cy="450000"/>
          </a:xfrm>
          <a:prstGeom prst="rect">
            <a:avLst/>
          </a:prstGeom>
          <a:solidFill>
            <a:srgbClr val="102b42"/>
          </a:solidFill>
          <a:ln w="0">
            <a:solidFill>
              <a:srgbClr val="31506a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100" spc="-1" strike="noStrike">
                <a:solidFill>
                  <a:srgbClr val="f8fafc"/>
                </a:solidFill>
                <a:latin typeface="Aptos"/>
              </a:rPr>
              <a:t>SMILES-randomization invariance test: same molecule, provably same label.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1" name=""/>
          <p:cNvSpPr/>
          <p:nvPr/>
        </p:nvSpPr>
        <p:spPr>
          <a:xfrm>
            <a:off x="576000" y="1962000"/>
            <a:ext cx="900000" cy="450000"/>
          </a:xfrm>
          <a:prstGeom prst="rect">
            <a:avLst/>
          </a:prstGeom>
          <a:solidFill>
            <a:srgbClr val="38bdf8"/>
          </a:solidFill>
          <a:ln w="0">
            <a:solidFill>
              <a:srgbClr val="38bdf8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2800" spc="-1" strike="noStrike">
                <a:solidFill>
                  <a:srgbClr val="061019"/>
                </a:solidFill>
                <a:latin typeface="Aptos"/>
              </a:rPr>
              <a:t>2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2" name=""/>
          <p:cNvSpPr/>
          <p:nvPr/>
        </p:nvSpPr>
        <p:spPr>
          <a:xfrm>
            <a:off x="1620000" y="1962000"/>
            <a:ext cx="9360000" cy="450000"/>
          </a:xfrm>
          <a:prstGeom prst="rect">
            <a:avLst/>
          </a:prstGeom>
          <a:solidFill>
            <a:srgbClr val="102b42"/>
          </a:solidFill>
          <a:ln w="0">
            <a:solidFill>
              <a:srgbClr val="31506a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100" spc="-1" strike="noStrike">
                <a:solidFill>
                  <a:srgbClr val="f8fafc"/>
                </a:solidFill>
                <a:latin typeface="Aptos"/>
              </a:rPr>
              <a:t>Positional-encoding ablation across 5 seeds.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3" name=""/>
          <p:cNvSpPr/>
          <p:nvPr/>
        </p:nvSpPr>
        <p:spPr>
          <a:xfrm>
            <a:off x="576000" y="2700000"/>
            <a:ext cx="900000" cy="4500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2800" spc="-1" strike="noStrike">
                <a:solidFill>
                  <a:srgbClr val="061019"/>
                </a:solidFill>
                <a:latin typeface="Aptos"/>
              </a:rPr>
              <a:t>3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"/>
          <p:cNvSpPr/>
          <p:nvPr/>
        </p:nvSpPr>
        <p:spPr>
          <a:xfrm>
            <a:off x="1620000" y="2700000"/>
            <a:ext cx="9360000" cy="450000"/>
          </a:xfrm>
          <a:prstGeom prst="rect">
            <a:avLst/>
          </a:prstGeom>
          <a:solidFill>
            <a:srgbClr val="102b42"/>
          </a:solidFill>
          <a:ln w="0">
            <a:solidFill>
              <a:srgbClr val="31506a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100" spc="-1" strike="noStrike">
                <a:solidFill>
                  <a:srgbClr val="f8fafc"/>
                </a:solidFill>
                <a:latin typeface="Aptos"/>
              </a:rPr>
              <a:t>k-fold scaffold CV: length-only, bag-of-tokens, Transformer.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5" name=""/>
          <p:cNvSpPr/>
          <p:nvPr/>
        </p:nvSpPr>
        <p:spPr>
          <a:xfrm>
            <a:off x="576000" y="3438000"/>
            <a:ext cx="900000" cy="4500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2800" spc="-1" strike="noStrike">
                <a:solidFill>
                  <a:srgbClr val="061019"/>
                </a:solidFill>
                <a:latin typeface="Aptos"/>
              </a:rPr>
              <a:t>4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"/>
          <p:cNvSpPr/>
          <p:nvPr/>
        </p:nvSpPr>
        <p:spPr>
          <a:xfrm>
            <a:off x="1620000" y="3438000"/>
            <a:ext cx="9360000" cy="450000"/>
          </a:xfrm>
          <a:prstGeom prst="rect">
            <a:avLst/>
          </a:prstGeom>
          <a:solidFill>
            <a:srgbClr val="102b42"/>
          </a:solidFill>
          <a:ln w="0">
            <a:solidFill>
              <a:srgbClr val="31506a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100" spc="-1" strike="noStrike">
                <a:solidFill>
                  <a:srgbClr val="f8fafc"/>
                </a:solidFill>
                <a:latin typeface="Aptos"/>
              </a:rPr>
              <a:t>Budget-matched attacks with median drift, validity rate, and no-op counts.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7" name=""/>
          <p:cNvSpPr/>
          <p:nvPr/>
        </p:nvSpPr>
        <p:spPr>
          <a:xfrm>
            <a:off x="576000" y="4176000"/>
            <a:ext cx="900000" cy="450000"/>
          </a:xfrm>
          <a:prstGeom prst="rect">
            <a:avLst/>
          </a:prstGeom>
          <a:solidFill>
            <a:srgbClr val="ef4444"/>
          </a:solidFill>
          <a:ln w="0">
            <a:solidFill>
              <a:srgbClr val="ef4444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2800" spc="-1" strike="noStrike">
                <a:solidFill>
                  <a:srgbClr val="061019"/>
                </a:solidFill>
                <a:latin typeface="Aptos"/>
              </a:rPr>
              <a:t>5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8" name=""/>
          <p:cNvSpPr/>
          <p:nvPr/>
        </p:nvSpPr>
        <p:spPr>
          <a:xfrm>
            <a:off x="1620000" y="4176000"/>
            <a:ext cx="9360000" cy="450000"/>
          </a:xfrm>
          <a:prstGeom prst="rect">
            <a:avLst/>
          </a:prstGeom>
          <a:solidFill>
            <a:srgbClr val="102b42"/>
          </a:solidFill>
          <a:ln w="0">
            <a:solidFill>
              <a:srgbClr val="31506a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100" spc="-1" strike="noStrike">
                <a:solidFill>
                  <a:srgbClr val="f8fafc"/>
                </a:solidFill>
                <a:latin typeface="Aptos"/>
              </a:rPr>
              <a:t>Only then consider graph models, MCMC, or broader defenses.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"/>
          <p:cNvSpPr/>
          <p:nvPr/>
        </p:nvSpPr>
        <p:spPr>
          <a:xfrm>
            <a:off x="0" y="0"/>
            <a:ext cx="11988000" cy="6732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"/>
          <p:cNvSpPr/>
          <p:nvPr/>
        </p:nvSpPr>
        <p:spPr>
          <a:xfrm>
            <a:off x="0" y="0"/>
            <a:ext cx="151200" cy="6732000"/>
          </a:xfrm>
          <a:prstGeom prst="rect">
            <a:avLst/>
          </a:prstGeom>
          <a:solidFill>
            <a:srgbClr val="0c2a3f"/>
          </a:solidFill>
          <a:ln w="0">
            <a:solidFill>
              <a:srgbClr val="0c2a3f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1" name=""/>
          <p:cNvSpPr/>
          <p:nvPr/>
        </p:nvSpPr>
        <p:spPr>
          <a:xfrm>
            <a:off x="378000" y="216000"/>
            <a:ext cx="11088000" cy="324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700" spc="-1" strike="noStrike">
                <a:solidFill>
                  <a:srgbClr val="f8fafc"/>
                </a:solidFill>
                <a:latin typeface="Aptos"/>
              </a:rPr>
              <a:t>Takeaway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2" name=""/>
          <p:cNvSpPr/>
          <p:nvPr/>
        </p:nvSpPr>
        <p:spPr>
          <a:xfrm>
            <a:off x="388800" y="554400"/>
            <a:ext cx="8208000" cy="2160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400" spc="-1" strike="noStrike">
                <a:solidFill>
                  <a:srgbClr val="9cb4c8"/>
                </a:solidFill>
                <a:latin typeface="Aptos"/>
              </a:rPr>
              <a:t>Best design, honest claims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3" name=""/>
          <p:cNvSpPr/>
          <p:nvPr/>
        </p:nvSpPr>
        <p:spPr>
          <a:xfrm>
            <a:off x="378000" y="835200"/>
            <a:ext cx="1548000" cy="216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txBody>
          <a:bodyPr lIns="90000" rIns="90000" tIns="-23400" bIns="-234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"/>
          <p:cNvSpPr/>
          <p:nvPr/>
        </p:nvSpPr>
        <p:spPr>
          <a:xfrm>
            <a:off x="1962000" y="835200"/>
            <a:ext cx="9504000" cy="6480"/>
          </a:xfrm>
          <a:prstGeom prst="rect">
            <a:avLst/>
          </a:prstGeom>
          <a:solidFill>
            <a:srgbClr val="31506a"/>
          </a:solidFill>
          <a:ln w="0">
            <a:solidFill>
              <a:srgbClr val="31506a"/>
            </a:solidFill>
          </a:ln>
        </p:spPr>
        <p:txBody>
          <a:bodyPr lIns="90000" rIns="90000" tIns="-38520" bIns="-385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5" name=""/>
          <p:cNvSpPr/>
          <p:nvPr/>
        </p:nvSpPr>
        <p:spPr>
          <a:xfrm>
            <a:off x="10512000" y="6278400"/>
            <a:ext cx="900000" cy="1512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61200" bIns="43200" anchor="t" anchorCtr="1">
            <a:noAutofit/>
          </a:bodyPr>
          <a:p>
            <a:pPr algn="just"/>
            <a:r>
              <a:rPr b="1" lang="en-US" sz="1100" spc="-1" strike="noStrike">
                <a:solidFill>
                  <a:srgbClr val="9cb4c8"/>
                </a:solidFill>
                <a:latin typeface="Aptos"/>
              </a:rPr>
              <a:t>26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6" name=""/>
          <p:cNvSpPr/>
          <p:nvPr/>
        </p:nvSpPr>
        <p:spPr>
          <a:xfrm>
            <a:off x="378000" y="6278400"/>
            <a:ext cx="4248000" cy="151200"/>
          </a:xfrm>
          <a:prstGeom prst="rect">
            <a:avLst/>
          </a:prstGeom>
          <a:solidFill>
            <a:srgbClr val="06111f"/>
          </a:solidFill>
          <a:ln w="0">
            <a:solidFill>
              <a:srgbClr val="06111f"/>
            </a:solidFill>
          </a:ln>
        </p:spPr>
        <p:txBody>
          <a:bodyPr lIns="162000" rIns="162000" tIns="61200" bIns="43200" anchor="t" anchorCtr="1">
            <a:noAutofit/>
          </a:bodyPr>
          <a:p>
            <a:r>
              <a:rPr b="0" lang="en-US" sz="1000" spc="-1" strike="noStrike">
                <a:solidFill>
                  <a:srgbClr val="6f879a"/>
                </a:solidFill>
                <a:latin typeface="Aptos"/>
              </a:rPr>
              <a:t>Materials adversarial learning forensic review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7" name=""/>
          <p:cNvSpPr/>
          <p:nvPr/>
        </p:nvSpPr>
        <p:spPr>
          <a:xfrm>
            <a:off x="864000" y="1800000"/>
            <a:ext cx="10224000" cy="1692000"/>
          </a:xfrm>
          <a:prstGeom prst="rect">
            <a:avLst/>
          </a:prstGeom>
          <a:solidFill>
            <a:srgbClr val="102b42"/>
          </a:solidFill>
          <a:ln w="0">
            <a:solidFill>
              <a:srgbClr val="f59e0b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2500" spc="-1" strike="noStrike">
                <a:solidFill>
                  <a:srgbClr val="f8fafc"/>
                </a:solidFill>
                <a:latin typeface="Aptos"/>
              </a:rPr>
              <a:t>The strongest version of this project is not: 'we proved length-changing attacks break polymer Transformers.'</a:t>
            </a:r>
            <a:endParaRPr b="0" lang="en-US" sz="2500" spc="-1" strike="noStrike">
              <a:solidFill>
                <a:srgbClr val="ffffff"/>
              </a:solidFill>
              <a:latin typeface="Arial"/>
            </a:endParaRPr>
          </a:p>
          <a:p>
            <a:pPr algn="r"/>
            <a:endParaRPr b="0" lang="en-US" sz="2500" spc="-1" strike="noStrike">
              <a:solidFill>
                <a:srgbClr val="ffffff"/>
              </a:solidFill>
              <a:latin typeface="Arial"/>
            </a:endParaRPr>
          </a:p>
          <a:p>
            <a:pPr algn="r"/>
            <a:r>
              <a:rPr b="1" lang="en-US" sz="2500" spc="-1" strike="noStrike">
                <a:solidFill>
                  <a:srgbClr val="f8fafc"/>
                </a:solidFill>
                <a:latin typeface="Aptos"/>
              </a:rPr>
              <a:t>It is: 'we built and audited a materials adversarial framework, found real token-level instability, and showed that several attractive robustness claims collapse unless representation-level invariance, matched attack severity, and small-data baselines are handled first.'</a:t>
            </a:r>
            <a:endParaRPr b="0" lang="en-US" sz="2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2026-08-20T13:18:45Z</dcterms:created>
  <dc:creator/>
  <dc:description/>
  <dc:language>en-US</dc:language>
  <cp:lastModifiedBy/>
  <dcterms:modified xsi:type="dcterms:W3CDTF">2026-08-20T13:18:49Z</dcterms:modified>
  <cp:revision>1</cp:revision>
  <dc:subject/>
  <dc:title/>
</cp:coreProperties>
</file>