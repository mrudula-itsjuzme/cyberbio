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604F3E-285C-49EA-B782-042ECA27394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B6F6EB-6269-4BF7-AC78-49CF8C48160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E079AC2-26D9-48BB-BB91-9A7EC659276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/>
          <p:nvPr/>
        </p:nvSpPr>
        <p:spPr>
          <a:xfrm>
            <a:off x="0" y="0"/>
            <a:ext cx="11988000" cy="67320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324000" y="223200"/>
            <a:ext cx="11340000" cy="3528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800" spc="-1" strike="noStrike">
                <a:solidFill>
                  <a:srgbClr val="f8fafc"/>
                </a:solidFill>
                <a:latin typeface="Aptos"/>
              </a:rPr>
              <a:t>Materials Adversarial Forensic Review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338400" y="576000"/>
            <a:ext cx="7560000" cy="2448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8ea6ba"/>
                </a:solidFill>
                <a:latin typeface="Aptos"/>
              </a:rPr>
              <a:t>Actual project evidence, diagnostics, and redesigned technical diagrams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324000" y="864000"/>
            <a:ext cx="11340000" cy="162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28800" bIns="-28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468000" y="1800000"/>
            <a:ext cx="5940000" cy="1476000"/>
          </a:xfrm>
          <a:prstGeom prst="rect">
            <a:avLst/>
          </a:prstGeom>
          <a:solidFill>
            <a:srgbClr val="102b42"/>
          </a:solidFill>
          <a:ln w="0">
            <a:solidFill>
              <a:srgbClr val="f59e0b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600" spc="-1" strike="noStrike">
                <a:solidFill>
                  <a:srgbClr val="f8fafc"/>
                </a:solidFill>
                <a:latin typeface="Aptos"/>
              </a:rPr>
              <a:t>Headline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r>
              <a:rPr b="1" lang="en-US" sz="2600" spc="-1" strike="noStrike">
                <a:solidFill>
                  <a:srgbClr val="f8fafc"/>
                </a:solidFill>
                <a:latin typeface="Aptos"/>
              </a:rPr>
              <a:t>The original length-change explanation does not survive the audit. The model is globally unstable to token-level perturbations, while chemistry-preserving robustness has not yet been demonstrated.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7092000" y="1872000"/>
            <a:ext cx="1260000" cy="252000"/>
          </a:xfrm>
          <a:prstGeom prst="rect">
            <a:avLst/>
          </a:prstGeom>
          <a:solidFill>
            <a:srgbClr val="38bdf8"/>
          </a:solidFill>
          <a:ln w="0">
            <a:solidFill>
              <a:srgbClr val="38bdf8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1600" spc="-1" strike="noStrike">
                <a:solidFill>
                  <a:srgbClr val="061019"/>
                </a:solidFill>
                <a:latin typeface="Aptos"/>
              </a:rPr>
              <a:t>247 Tg samples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7092000" y="2232000"/>
            <a:ext cx="1260000" cy="252000"/>
          </a:xfrm>
          <a:prstGeom prst="rect">
            <a:avLst/>
          </a:prstGeom>
          <a:solidFill>
            <a:srgbClr val="ef4444"/>
          </a:solidFill>
          <a:ln w="0">
            <a:solidFill>
              <a:srgbClr val="ef4444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1600" spc="-1" strike="noStrike">
                <a:solidFill>
                  <a:srgbClr val="061019"/>
                </a:solidFill>
                <a:latin typeface="Aptos"/>
              </a:rPr>
              <a:t>n=6 test set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7092000" y="2592000"/>
            <a:ext cx="1260000" cy="2520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1600" spc="-1" strike="noStrike">
                <a:solidFill>
                  <a:srgbClr val="061019"/>
                </a:solidFill>
                <a:latin typeface="Aptos"/>
              </a:rPr>
              <a:t>86,337 params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7092000" y="2952000"/>
            <a:ext cx="1260000" cy="252000"/>
          </a:xfrm>
          <a:prstGeom prst="rect">
            <a:avLst/>
          </a:prstGeom>
          <a:solidFill>
            <a:srgbClr val="22c55e"/>
          </a:solidFill>
          <a:ln w="0">
            <a:solidFill>
              <a:srgbClr val="22c55e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1600" spc="-1" strike="noStrike">
                <a:solidFill>
                  <a:srgbClr val="061019"/>
                </a:solidFill>
                <a:latin typeface="Aptos"/>
              </a:rPr>
              <a:t>5-seed audit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>
            <a:off x="0" y="0"/>
            <a:ext cx="11988000" cy="67320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324000" y="223200"/>
            <a:ext cx="11340000" cy="3528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800" spc="-1" strike="noStrike">
                <a:solidFill>
                  <a:srgbClr val="f8fafc"/>
                </a:solidFill>
                <a:latin typeface="Aptos"/>
              </a:rPr>
              <a:t>Problem Statement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338400" y="576000"/>
            <a:ext cx="7560000" cy="2448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8ea6ba"/>
                </a:solidFill>
                <a:latin typeface="Aptos"/>
              </a:rPr>
              <a:t>What the project is really trying to solve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324000" y="864000"/>
            <a:ext cx="11340000" cy="162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28800" bIns="-28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504000" y="1404000"/>
            <a:ext cx="5220000" cy="32400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22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200" spc="-1" strike="noStrike">
                <a:solidFill>
                  <a:srgbClr val="f8fafc"/>
                </a:solidFill>
                <a:latin typeface="Aptos"/>
              </a:rPr>
              <a:t>Can sequence models for polymers stay stable when valid-looking PSMILES strings are perturbed?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2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200" spc="-1" strike="noStrike">
                <a:solidFill>
                  <a:srgbClr val="f8fafc"/>
                </a:solidFill>
                <a:latin typeface="Aptos"/>
              </a:rPr>
              <a:t>Do observed prediction drifts reveal true adversarial vulnerability, or artifacts of representation, split design, pooling, and attack severity?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2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200" spc="-1" strike="noStrike">
                <a:solidFill>
                  <a:srgbClr val="f8fafc"/>
                </a:solidFill>
                <a:latin typeface="Aptos"/>
              </a:rPr>
              <a:t>Can adversarial training improve robustness without damaging clean prediction accuracy?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2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200" spc="-1" strike="noStrike">
                <a:solidFill>
                  <a:srgbClr val="f8fafc"/>
                </a:solidFill>
                <a:latin typeface="Aptos"/>
              </a:rPr>
              <a:t>Which claims are actually supported once the model, data, and attack pipeline are forensically audited?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6336000" y="1512000"/>
            <a:ext cx="4608000" cy="2196000"/>
          </a:xfrm>
          <a:prstGeom prst="rect">
            <a:avLst/>
          </a:prstGeom>
          <a:solidFill>
            <a:srgbClr val="13283a"/>
          </a:solidFill>
          <a:ln w="0">
            <a:solidFill>
              <a:srgbClr val="f59e0b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300" spc="-1" strike="noStrike">
                <a:solidFill>
                  <a:srgbClr val="f8fafc"/>
                </a:solidFill>
                <a:latin typeface="Aptos"/>
              </a:rPr>
              <a:t>Why it matters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  <a:p>
            <a:r>
              <a:rPr b="1" lang="en-US" sz="2300" spc="-1" strike="noStrike">
                <a:solidFill>
                  <a:srgbClr val="f8fafc"/>
                </a:solidFill>
                <a:latin typeface="Aptos"/>
              </a:rPr>
              <a:t>A materials ML system that changes Tg or bandgap predictions after small string edits can look scientifically convincing while responding to syntax, length, or candidate-selection artifacts instead of chemistry.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/>
        </p:nvSpPr>
        <p:spPr>
          <a:xfrm>
            <a:off x="0" y="0"/>
            <a:ext cx="11988000" cy="67320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324000" y="223200"/>
            <a:ext cx="11340000" cy="3528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800" spc="-1" strike="noStrike">
                <a:solidFill>
                  <a:srgbClr val="f8fafc"/>
                </a:solidFill>
                <a:latin typeface="Aptos"/>
              </a:rPr>
              <a:t>Project Scope And Data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338400" y="576000"/>
            <a:ext cx="7560000" cy="2448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8ea6ba"/>
                </a:solidFill>
                <a:latin typeface="Aptos"/>
              </a:rPr>
              <a:t>Two related project threads; Tg forensic audit is the current deck focus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324000" y="864000"/>
            <a:ext cx="11340000" cy="162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28800" bIns="-28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468000" y="1296000"/>
            <a:ext cx="5220000" cy="34200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Bandgap milestone: 2946/631/632 split, clean test MAE 0.4619 eV, R² 0.802.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Tg forensic audit: final polymer properties table has 741 rows; Tg non-null = 443.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After RDKit canonicalization and conflicting duplicate removal: 247 Tg samples.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Scaffold split: train 204 / validation 37 / sealed test 6.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6336000" y="1620000"/>
            <a:ext cx="4500000" cy="1944000"/>
          </a:xfrm>
          <a:prstGeom prst="rect">
            <a:avLst/>
          </a:prstGeom>
          <a:solidFill>
            <a:srgbClr val="271a1a"/>
          </a:solidFill>
          <a:ln w="0">
            <a:solidFill>
              <a:srgbClr val="ef4444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200" spc="-1" strike="noStrike">
                <a:solidFill>
                  <a:srgbClr val="f8fafc"/>
                </a:solidFill>
                <a:latin typeface="Aptos"/>
              </a:rPr>
              <a:t>Important deck choice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r>
              <a:rPr b="1" lang="en-US" sz="2200" spc="-1" strike="noStrike">
                <a:solidFill>
                  <a:srgbClr val="f8fafc"/>
                </a:solidFill>
                <a:latin typeface="Aptos"/>
              </a:rPr>
              <a:t>The forensic findings supersede the earlier length-mechanism narrative, so this PPT presents the audit as the main result and uses older claims only as background.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/>
          <p:nvPr/>
        </p:nvSpPr>
        <p:spPr>
          <a:xfrm>
            <a:off x="0" y="0"/>
            <a:ext cx="11988000" cy="67320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324000" y="223200"/>
            <a:ext cx="11340000" cy="3528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800" spc="-1" strike="noStrike">
                <a:solidFill>
                  <a:srgbClr val="f8fafc"/>
                </a:solidFill>
                <a:latin typeface="Aptos"/>
              </a:rPr>
              <a:t>Research Questions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338400" y="576000"/>
            <a:ext cx="7560000" cy="2448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8ea6ba"/>
                </a:solidFill>
                <a:latin typeface="Aptos"/>
              </a:rPr>
              <a:t>The questions this project can and cannot answer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324000" y="864000"/>
            <a:ext cx="11340000" cy="162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28800" bIns="-28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576000" y="1296000"/>
            <a:ext cx="10620000" cy="486000"/>
          </a:xfrm>
          <a:prstGeom prst="rect">
            <a:avLst/>
          </a:prstGeom>
          <a:solidFill>
            <a:srgbClr val="102b42"/>
          </a:solidFill>
          <a:ln w="0">
            <a:solidFill>
              <a:srgbClr val="38bdf8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200" spc="-1" strike="noStrike">
                <a:solidFill>
                  <a:srgbClr val="f8fafc"/>
                </a:solidFill>
                <a:latin typeface="Aptos"/>
              </a:rPr>
              <a:t>RQ1: Are polymer sequence regressors vulnerable to valid token-space perturbations?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576000" y="2052000"/>
            <a:ext cx="10620000" cy="486000"/>
          </a:xfrm>
          <a:prstGeom prst="rect">
            <a:avLst/>
          </a:prstGeom>
          <a:solidFill>
            <a:srgbClr val="102b42"/>
          </a:solidFill>
          <a:ln w="0">
            <a:solidFill>
              <a:srgbClr val="f59e0b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200" spc="-1" strike="noStrike">
                <a:solidFill>
                  <a:srgbClr val="f8fafc"/>
                </a:solidFill>
                <a:latin typeface="Aptos"/>
              </a:rPr>
              <a:t>RQ2: Is the vulnerability specifically caused by length-changing attacks?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576000" y="2808000"/>
            <a:ext cx="10620000" cy="486000"/>
          </a:xfrm>
          <a:prstGeom prst="rect">
            <a:avLst/>
          </a:prstGeom>
          <a:solidFill>
            <a:srgbClr val="102b42"/>
          </a:solidFill>
          <a:ln w="0">
            <a:solidFill>
              <a:srgbClr val="f59e0b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200" spc="-1" strike="noStrike">
                <a:solidFill>
                  <a:srgbClr val="f8fafc"/>
                </a:solidFill>
                <a:latin typeface="Aptos"/>
              </a:rPr>
              <a:t>RQ3: Does adversarial training generalize across attack families?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576000" y="3564000"/>
            <a:ext cx="10620000" cy="486000"/>
          </a:xfrm>
          <a:prstGeom prst="rect">
            <a:avLst/>
          </a:prstGeom>
          <a:solidFill>
            <a:srgbClr val="102b42"/>
          </a:solidFill>
          <a:ln w="0">
            <a:solidFill>
              <a:srgbClr val="f59e0b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200" spc="-1" strike="noStrike">
                <a:solidFill>
                  <a:srgbClr val="f8fafc"/>
                </a:solidFill>
                <a:latin typeface="Aptos"/>
              </a:rPr>
              <a:t>RQ4: Are the attack labels chemically justified as property-preserving?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576000" y="4320000"/>
            <a:ext cx="10620000" cy="486000"/>
          </a:xfrm>
          <a:prstGeom prst="rect">
            <a:avLst/>
          </a:prstGeom>
          <a:solidFill>
            <a:srgbClr val="102b42"/>
          </a:solidFill>
          <a:ln w="0">
            <a:solidFill>
              <a:srgbClr val="38bdf8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200" spc="-1" strike="noStrike">
                <a:solidFill>
                  <a:srgbClr val="f8fafc"/>
                </a:solidFill>
                <a:latin typeface="Aptos"/>
              </a:rPr>
              <a:t>RQ5: What gaps must be fixed before publishing a strong robustness claim?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>
            <a:off x="0" y="0"/>
            <a:ext cx="11988000" cy="67320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324000" y="223200"/>
            <a:ext cx="11340000" cy="3528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800" spc="-1" strike="noStrike">
                <a:solidFill>
                  <a:srgbClr val="f8fafc"/>
                </a:solidFill>
                <a:latin typeface="Aptos"/>
              </a:rPr>
              <a:t>Literature Review And Gap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338400" y="576000"/>
            <a:ext cx="7560000" cy="2448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8ea6ba"/>
                </a:solidFill>
                <a:latin typeface="Aptos"/>
              </a:rPr>
              <a:t>Positioning, without pretending this project solved physics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324000" y="864000"/>
            <a:ext cx="11340000" cy="162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28800" bIns="-28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468000" y="1260000"/>
            <a:ext cx="5112000" cy="36000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9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1900" spc="-1" strike="noStrike">
                <a:solidFill>
                  <a:srgbClr val="f8fafc"/>
                </a:solidFill>
                <a:latin typeface="Aptos"/>
              </a:rPr>
              <a:t>Polymer property prediction often uses string representations such as SMILES/PSMILES because they are easy to tokenize.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1900" spc="-1" strike="noStrike">
                <a:solidFill>
                  <a:srgbClr val="f8fafc"/>
                </a:solidFill>
                <a:latin typeface="Aptos"/>
              </a:rPr>
              <a:t>Transformers can model token context, but small-data polymer datasets make shortcut learning plausible.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1900" spc="-1" strike="noStrike">
                <a:solidFill>
                  <a:srgbClr val="f8fafc"/>
                </a:solidFill>
                <a:latin typeface="Aptos"/>
              </a:rPr>
              <a:t>Standard reports emphasize clean MAE/R² more than invariance under equivalent or near-equivalent representations.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1900" spc="-1" strike="noStrike">
                <a:solidFill>
                  <a:srgbClr val="f8fafc"/>
                </a:solidFill>
                <a:latin typeface="Aptos"/>
              </a:rPr>
              <a:t>Prior adversarial examples in chemistry often conflate validity, plausibility, and unchanged target labels.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6192000" y="1404000"/>
            <a:ext cx="4680000" cy="2808000"/>
          </a:xfrm>
          <a:prstGeom prst="rect">
            <a:avLst/>
          </a:prstGeom>
          <a:solidFill>
            <a:srgbClr val="13283a"/>
          </a:solidFill>
          <a:ln w="0">
            <a:solidFill>
              <a:srgbClr val="f59e0b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400" spc="-1" strike="noStrike">
                <a:solidFill>
                  <a:srgbClr val="f8fafc"/>
                </a:solidFill>
                <a:latin typeface="Aptos"/>
              </a:rPr>
              <a:t>Exact gap this work exposes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r>
              <a:rPr b="1" lang="en-US" sz="2400" spc="-1" strike="noStrike">
                <a:solidFill>
                  <a:srgbClr val="f8fafc"/>
                </a:solidFill>
                <a:latin typeface="Aptos"/>
              </a:rPr>
              <a:t>The missing experiment is not more attacks. It is a clean, representation-level perturbation where the molecule and label are provably unchanged, plus matched-budget evaluation and cross-validated baselines.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"/>
          <p:cNvSpPr/>
          <p:nvPr/>
        </p:nvSpPr>
        <p:spPr>
          <a:xfrm>
            <a:off x="0" y="0"/>
            <a:ext cx="11988000" cy="67320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324000" y="223200"/>
            <a:ext cx="11340000" cy="3528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800" spc="-1" strike="noStrike">
                <a:solidFill>
                  <a:srgbClr val="f8fafc"/>
                </a:solidFill>
                <a:latin typeface="Aptos"/>
              </a:rPr>
              <a:t>System Architecture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338400" y="576000"/>
            <a:ext cx="7560000" cy="2448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8ea6ba"/>
                </a:solidFill>
                <a:latin typeface="Aptos"/>
              </a:rPr>
              <a:t>Generated from the implemented pipeline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324000" y="864000"/>
            <a:ext cx="11340000" cy="162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28800" bIns="-28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396000" y="1548000"/>
            <a:ext cx="2340000" cy="900000"/>
          </a:xfrm>
          <a:prstGeom prst="rect">
            <a:avLst/>
          </a:prstGeom>
          <a:solidFill>
            <a:srgbClr val="102b42"/>
          </a:solidFill>
          <a:ln w="0">
            <a:solidFill>
              <a:srgbClr val="38bdf8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2000" spc="-1" strike="noStrike">
                <a:solidFill>
                  <a:srgbClr val="f8fafc"/>
                </a:solidFill>
                <a:latin typeface="Aptos"/>
              </a:rPr>
              <a:t>Raw polymer table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2000" spc="-1" strike="noStrike">
                <a:solidFill>
                  <a:srgbClr val="f8fafc"/>
                </a:solidFill>
                <a:latin typeface="Aptos"/>
              </a:rPr>
              <a:t>741 rows, 32 columns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594000" y="2538000"/>
            <a:ext cx="1944000" cy="259200"/>
          </a:xfrm>
          <a:prstGeom prst="rect">
            <a:avLst/>
          </a:prstGeom>
          <a:solidFill>
            <a:srgbClr val="0b1e30"/>
          </a:solidFill>
          <a:ln w="0">
            <a:solidFill>
              <a:srgbClr val="29445a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0" lang="en-US" sz="1500" spc="-1" strike="noStrike">
                <a:solidFill>
                  <a:srgbClr val="8ea6ba"/>
                </a:solidFill>
                <a:latin typeface="Aptos"/>
              </a:rPr>
              <a:t>Tg non-null = 443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2736000" y="1998000"/>
            <a:ext cx="360000" cy="0"/>
          </a:xfrm>
          <a:prstGeom prst="line">
            <a:avLst/>
          </a:prstGeom>
          <a:ln w="324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6200" rIns="106200" tIns="-61200" bIns="-612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3204000" y="1548000"/>
            <a:ext cx="2340000" cy="900000"/>
          </a:xfrm>
          <a:prstGeom prst="rect">
            <a:avLst/>
          </a:prstGeom>
          <a:solidFill>
            <a:srgbClr val="102b42"/>
          </a:solidFill>
          <a:ln w="0">
            <a:solidFill>
              <a:srgbClr val="38bdf8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2000" spc="-1" strike="noStrike">
                <a:solidFill>
                  <a:srgbClr val="f8fafc"/>
                </a:solidFill>
                <a:latin typeface="Aptos"/>
              </a:rPr>
              <a:t>Cleaning + dedup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2000" spc="-1" strike="noStrike">
                <a:solidFill>
                  <a:srgbClr val="f8fafc"/>
                </a:solidFill>
                <a:latin typeface="Aptos"/>
              </a:rPr>
              <a:t>RDKit canonicalization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3402000" y="2538000"/>
            <a:ext cx="1944000" cy="259200"/>
          </a:xfrm>
          <a:prstGeom prst="rect">
            <a:avLst/>
          </a:prstGeom>
          <a:solidFill>
            <a:srgbClr val="0b1e30"/>
          </a:solidFill>
          <a:ln w="0">
            <a:solidFill>
              <a:srgbClr val="29445a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0" lang="en-US" sz="1500" spc="-1" strike="noStrike">
                <a:solidFill>
                  <a:srgbClr val="8ea6ba"/>
                </a:solidFill>
                <a:latin typeface="Aptos"/>
              </a:rPr>
              <a:t>drop_all conflicts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5544000" y="1998000"/>
            <a:ext cx="360000" cy="0"/>
          </a:xfrm>
          <a:prstGeom prst="line">
            <a:avLst/>
          </a:prstGeom>
          <a:ln w="324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6200" rIns="106200" tIns="-61200" bIns="-612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6012000" y="1548000"/>
            <a:ext cx="2340000" cy="900000"/>
          </a:xfrm>
          <a:prstGeom prst="rect">
            <a:avLst/>
          </a:prstGeom>
          <a:solidFill>
            <a:srgbClr val="102b42"/>
          </a:solidFill>
          <a:ln w="0">
            <a:solidFill>
              <a:srgbClr val="38bdf8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2000" spc="-1" strike="noStrike">
                <a:solidFill>
                  <a:srgbClr val="f8fafc"/>
                </a:solidFill>
                <a:latin typeface="Aptos"/>
              </a:rPr>
              <a:t>Processed dataset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2000" spc="-1" strike="noStrike">
                <a:solidFill>
                  <a:srgbClr val="f8fafc"/>
                </a:solidFill>
                <a:latin typeface="Aptos"/>
              </a:rPr>
              <a:t>247 Tg samples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6210000" y="2538000"/>
            <a:ext cx="1944000" cy="259200"/>
          </a:xfrm>
          <a:prstGeom prst="rect">
            <a:avLst/>
          </a:prstGeom>
          <a:solidFill>
            <a:srgbClr val="0b1e30"/>
          </a:solidFill>
          <a:ln w="0">
            <a:solidFill>
              <a:srgbClr val="29445a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0" lang="en-US" sz="1500" spc="-1" strike="noStrike">
                <a:solidFill>
                  <a:srgbClr val="8ea6ba"/>
                </a:solidFill>
                <a:latin typeface="Aptos"/>
              </a:rPr>
              <a:t>train 204 / val 37 / test 6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8352000" y="1998000"/>
            <a:ext cx="360000" cy="0"/>
          </a:xfrm>
          <a:prstGeom prst="line">
            <a:avLst/>
          </a:prstGeom>
          <a:ln w="324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6200" rIns="106200" tIns="-61200" bIns="-612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8820000" y="1548000"/>
            <a:ext cx="2340000" cy="900000"/>
          </a:xfrm>
          <a:prstGeom prst="rect">
            <a:avLst/>
          </a:prstGeom>
          <a:solidFill>
            <a:srgbClr val="102b42"/>
          </a:solidFill>
          <a:ln w="0">
            <a:solidFill>
              <a:srgbClr val="38bdf8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2000" spc="-1" strike="noStrike">
                <a:solidFill>
                  <a:srgbClr val="f8fafc"/>
                </a:solidFill>
                <a:latin typeface="Aptos"/>
              </a:rPr>
              <a:t>Tokenization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2000" spc="-1" strike="noStrike">
                <a:solidFill>
                  <a:srgbClr val="f8fafc"/>
                </a:solidFill>
                <a:latin typeface="Aptos"/>
              </a:rPr>
              <a:t>45-token vocab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9018000" y="2538000"/>
            <a:ext cx="1944000" cy="259200"/>
          </a:xfrm>
          <a:prstGeom prst="rect">
            <a:avLst/>
          </a:prstGeom>
          <a:solidFill>
            <a:srgbClr val="0b1e30"/>
          </a:solidFill>
          <a:ln w="0">
            <a:solidFill>
              <a:srgbClr val="29445a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0" lang="en-US" sz="1500" spc="-1" strike="noStrike">
                <a:solidFill>
                  <a:srgbClr val="8ea6ba"/>
                </a:solidFill>
                <a:latin typeface="Aptos"/>
              </a:rPr>
              <a:t>PAD=0, OOV=0 risk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900000" y="3672000"/>
            <a:ext cx="2736000" cy="936000"/>
          </a:xfrm>
          <a:prstGeom prst="rect">
            <a:avLst/>
          </a:prstGeom>
          <a:solidFill>
            <a:srgbClr val="13283a"/>
          </a:solidFill>
          <a:ln w="0">
            <a:solidFill>
              <a:srgbClr val="1f6feb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1900" spc="-1" strike="noStrike">
                <a:solidFill>
                  <a:srgbClr val="f8fafc"/>
                </a:solidFill>
                <a:latin typeface="Aptos"/>
              </a:rPr>
              <a:t>Attack engine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900" spc="-1" strike="noStrike">
                <a:solidFill>
                  <a:srgbClr val="f8fafc"/>
                </a:solidFill>
                <a:latin typeface="Aptos"/>
              </a:rPr>
              <a:t>substitution / rearrangement / insertion / deletion / controls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3636000" y="4140000"/>
            <a:ext cx="612000" cy="0"/>
          </a:xfrm>
          <a:prstGeom prst="line">
            <a:avLst/>
          </a:prstGeom>
          <a:ln w="28800">
            <a:solidFill>
              <a:srgbClr val="8ea6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-59400" bIns="-594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4356000" y="3672000"/>
            <a:ext cx="2736000" cy="936000"/>
          </a:xfrm>
          <a:prstGeom prst="rect">
            <a:avLst/>
          </a:prstGeom>
          <a:solidFill>
            <a:srgbClr val="13283a"/>
          </a:solidFill>
          <a:ln w="0">
            <a:solidFill>
              <a:srgbClr val="1f6feb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1900" spc="-1" strike="noStrike">
                <a:solidFill>
                  <a:srgbClr val="f8fafc"/>
                </a:solidFill>
                <a:latin typeface="Aptos"/>
              </a:rPr>
              <a:t>Transformer regressor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900" spc="-1" strike="noStrike">
                <a:solidFill>
                  <a:srgbClr val="f8fafc"/>
                </a:solidFill>
                <a:latin typeface="Aptos"/>
              </a:rPr>
              <a:t>embedding + learned positions + 2 encoder layers + mean pool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7092000" y="4140000"/>
            <a:ext cx="612000" cy="0"/>
          </a:xfrm>
          <a:prstGeom prst="line">
            <a:avLst/>
          </a:prstGeom>
          <a:ln w="28800">
            <a:solidFill>
              <a:srgbClr val="8ea6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-59400" bIns="-594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7812000" y="3672000"/>
            <a:ext cx="2736000" cy="936000"/>
          </a:xfrm>
          <a:prstGeom prst="rect">
            <a:avLst/>
          </a:prstGeom>
          <a:solidFill>
            <a:srgbClr val="13283a"/>
          </a:solidFill>
          <a:ln w="0">
            <a:solidFill>
              <a:srgbClr val="f59e0b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1900" spc="-1" strike="noStrike">
                <a:solidFill>
                  <a:srgbClr val="f8fafc"/>
                </a:solidFill>
                <a:latin typeface="Aptos"/>
              </a:rPr>
              <a:t>Forensic audit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900" spc="-1" strike="noStrike">
                <a:solidFill>
                  <a:srgbClr val="f8fafc"/>
                </a:solidFill>
                <a:latin typeface="Aptos"/>
              </a:rPr>
              <a:t>masking tests, baselines, severity audit, 5-seed controls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 flipH="1">
            <a:off x="1944000" y="4680000"/>
            <a:ext cx="7236000" cy="0"/>
          </a:xfrm>
          <a:prstGeom prst="line">
            <a:avLst/>
          </a:prstGeom>
          <a:ln w="252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rIns="102600" tIns="-57600" bIns="-57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2484000" y="4860000"/>
            <a:ext cx="6660000" cy="324000"/>
          </a:xfrm>
          <a:prstGeom prst="rect">
            <a:avLst/>
          </a:prstGeom>
          <a:solidFill>
            <a:srgbClr val="291b1b"/>
          </a:solidFill>
          <a:ln w="0">
            <a:solidFill>
              <a:srgbClr val="ef4444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1800" spc="-1" strike="noStrike">
                <a:solidFill>
                  <a:srgbClr val="f8fafc"/>
                </a:solidFill>
                <a:latin typeface="Aptos"/>
              </a:rPr>
              <a:t>Audit loop revises claims: length mechanism refuted; global token instability retained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"/>
          <p:cNvSpPr/>
          <p:nvPr/>
        </p:nvSpPr>
        <p:spPr>
          <a:xfrm>
            <a:off x="0" y="0"/>
            <a:ext cx="11988000" cy="67320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324000" y="223200"/>
            <a:ext cx="11340000" cy="3528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800" spc="-1" strike="noStrike">
                <a:solidFill>
                  <a:srgbClr val="f8fafc"/>
                </a:solidFill>
                <a:latin typeface="Aptos"/>
              </a:rPr>
              <a:t>Model Architecture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338400" y="576000"/>
            <a:ext cx="7560000" cy="2448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8ea6ba"/>
                </a:solidFill>
                <a:latin typeface="Aptos"/>
              </a:rPr>
              <a:t>Generated from transformer.py, regression.py, and model.yaml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324000" y="864000"/>
            <a:ext cx="11340000" cy="162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28800" bIns="-28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324000" y="1692000"/>
            <a:ext cx="1548000" cy="828000"/>
          </a:xfrm>
          <a:prstGeom prst="rect">
            <a:avLst/>
          </a:prstGeom>
          <a:solidFill>
            <a:srgbClr val="102b42"/>
          </a:solidFill>
          <a:ln w="0">
            <a:solidFill>
              <a:srgbClr val="38bdf8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PSMILES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string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1872000" y="2106000"/>
            <a:ext cx="324000" cy="0"/>
          </a:xfrm>
          <a:prstGeom prst="line">
            <a:avLst/>
          </a:prstGeom>
          <a:ln w="25200">
            <a:solidFill>
              <a:srgbClr val="8ea6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rIns="102600" tIns="-57600" bIns="-57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2196000" y="1692000"/>
            <a:ext cx="1548000" cy="828000"/>
          </a:xfrm>
          <a:prstGeom prst="rect">
            <a:avLst/>
          </a:prstGeom>
          <a:solidFill>
            <a:srgbClr val="102b42"/>
          </a:solidFill>
          <a:ln w="0">
            <a:solidFill>
              <a:srgbClr val="38bdf8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Tokenizer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regex, 45 vocab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3744000" y="2106000"/>
            <a:ext cx="324000" cy="0"/>
          </a:xfrm>
          <a:prstGeom prst="line">
            <a:avLst/>
          </a:prstGeom>
          <a:ln w="25200">
            <a:solidFill>
              <a:srgbClr val="8ea6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rIns="102600" tIns="-57600" bIns="-57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4068000" y="1692000"/>
            <a:ext cx="1548000" cy="828000"/>
          </a:xfrm>
          <a:prstGeom prst="rect">
            <a:avLst/>
          </a:prstGeom>
          <a:solidFill>
            <a:srgbClr val="102b42"/>
          </a:solidFill>
          <a:ln w="0">
            <a:solidFill>
              <a:srgbClr val="38bdf8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Token IDs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[B,L], PAD=0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5616000" y="2106000"/>
            <a:ext cx="324000" cy="0"/>
          </a:xfrm>
          <a:prstGeom prst="line">
            <a:avLst/>
          </a:prstGeom>
          <a:ln w="25200">
            <a:solidFill>
              <a:srgbClr val="8ea6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rIns="102600" tIns="-57600" bIns="-57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5940000" y="1692000"/>
            <a:ext cx="1872000" cy="828000"/>
          </a:xfrm>
          <a:prstGeom prst="rect">
            <a:avLst/>
          </a:prstGeom>
          <a:solidFill>
            <a:srgbClr val="102b42"/>
          </a:solidFill>
          <a:ln w="0">
            <a:solidFill>
              <a:srgbClr val="f59e0b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Embeddings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token 64d + learned position 64d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7812000" y="2106000"/>
            <a:ext cx="324000" cy="0"/>
          </a:xfrm>
          <a:prstGeom prst="line">
            <a:avLst/>
          </a:prstGeom>
          <a:ln w="25200">
            <a:solidFill>
              <a:srgbClr val="8ea6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rIns="102600" tIns="-57600" bIns="-57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8136000" y="1692000"/>
            <a:ext cx="1872000" cy="828000"/>
          </a:xfrm>
          <a:prstGeom prst="rect">
            <a:avLst/>
          </a:prstGeom>
          <a:solidFill>
            <a:srgbClr val="102b42"/>
          </a:solidFill>
          <a:ln w="0">
            <a:solidFill>
              <a:srgbClr val="f59e0b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Encoder x2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4 heads, FFN 128, ReLU, post-LN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10008000" y="2106000"/>
            <a:ext cx="324000" cy="0"/>
          </a:xfrm>
          <a:prstGeom prst="line">
            <a:avLst/>
          </a:prstGeom>
          <a:ln w="25200">
            <a:solidFill>
              <a:srgbClr val="8ea6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rIns="102600" tIns="-57600" bIns="-57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10332000" y="1692000"/>
            <a:ext cx="1548000" cy="828000"/>
          </a:xfrm>
          <a:prstGeom prst="rect">
            <a:avLst/>
          </a:prstGeom>
          <a:solidFill>
            <a:srgbClr val="102b42"/>
          </a:solidFill>
          <a:ln w="0">
            <a:solidFill>
              <a:srgbClr val="f59e0b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Masked Mean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single 64d vector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11880000" y="2106000"/>
            <a:ext cx="324000" cy="0"/>
          </a:xfrm>
          <a:prstGeom prst="line">
            <a:avLst/>
          </a:prstGeom>
          <a:ln w="25200">
            <a:solidFill>
              <a:srgbClr val="8ea6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rIns="102600" tIns="-57600" bIns="-57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12204000" y="1692000"/>
            <a:ext cx="1548000" cy="828000"/>
          </a:xfrm>
          <a:prstGeom prst="rect">
            <a:avLst/>
          </a:prstGeom>
          <a:solidFill>
            <a:srgbClr val="102b42"/>
          </a:solidFill>
          <a:ln w="0">
            <a:solidFill>
              <a:srgbClr val="f59e0b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Linear Head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Tg prediction K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612000" y="3384000"/>
            <a:ext cx="3060000" cy="900000"/>
          </a:xfrm>
          <a:prstGeom prst="rect">
            <a:avLst/>
          </a:prstGeom>
          <a:solidFill>
            <a:srgbClr val="1e293b"/>
          </a:solidFill>
          <a:ln w="0">
            <a:solidFill>
              <a:srgbClr val="ef4444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1800" spc="-1" strike="noStrike">
                <a:solidFill>
                  <a:srgbClr val="f8fafc"/>
                </a:solidFill>
                <a:latin typeface="Aptos"/>
              </a:rPr>
              <a:t>Key risk 1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r>
              <a:rPr b="1" lang="en-US" sz="1800" spc="-1" strike="noStrike">
                <a:solidFill>
                  <a:srgbClr val="f8fafc"/>
                </a:solidFill>
                <a:latin typeface="Aptos"/>
              </a:rPr>
              <a:t>Learned absolute positions: insertion at index j re-indexes downstream tokens.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4464000" y="3384000"/>
            <a:ext cx="3060000" cy="900000"/>
          </a:xfrm>
          <a:prstGeom prst="rect">
            <a:avLst/>
          </a:prstGeom>
          <a:solidFill>
            <a:srgbClr val="1e293b"/>
          </a:solidFill>
          <a:ln w="0">
            <a:solidFill>
              <a:srgbClr val="ef4444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1800" spc="-1" strike="noStrike">
                <a:solidFill>
                  <a:srgbClr val="f8fafc"/>
                </a:solidFill>
                <a:latin typeface="Aptos"/>
              </a:rPr>
              <a:t>Key risk 2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r>
              <a:rPr b="1" lang="en-US" sz="1800" spc="-1" strike="noStrike">
                <a:solidFill>
                  <a:srgbClr val="f8fafc"/>
                </a:solidFill>
                <a:latin typeface="Aptos"/>
              </a:rPr>
              <a:t>Mean pooling creates a 1/L dilution effect; short sequences move more.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8316000" y="3384000"/>
            <a:ext cx="2592000" cy="900000"/>
          </a:xfrm>
          <a:prstGeom prst="rect">
            <a:avLst/>
          </a:prstGeom>
          <a:solidFill>
            <a:srgbClr val="1e293b"/>
          </a:solidFill>
          <a:ln w="0">
            <a:solidFill>
              <a:srgbClr val="f59e0b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1800" spc="-1" strike="noStrike">
                <a:solidFill>
                  <a:srgbClr val="f8fafc"/>
                </a:solidFill>
                <a:latin typeface="Aptos"/>
              </a:rPr>
              <a:t>Scale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r>
              <a:rPr b="1" lang="en-US" sz="1800" spc="-1" strike="noStrike">
                <a:solidFill>
                  <a:srgbClr val="f8fafc"/>
                </a:solidFill>
                <a:latin typeface="Aptos"/>
              </a:rPr>
              <a:t>86,337 parameters trained on only 204 Tg training samples.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"/>
          <p:cNvSpPr/>
          <p:nvPr/>
        </p:nvSpPr>
        <p:spPr>
          <a:xfrm>
            <a:off x="0" y="0"/>
            <a:ext cx="11988000" cy="67320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324000" y="223200"/>
            <a:ext cx="11340000" cy="3528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800" spc="-1" strike="noStrike">
                <a:solidFill>
                  <a:srgbClr val="f8fafc"/>
                </a:solidFill>
                <a:latin typeface="Aptos"/>
              </a:rPr>
              <a:t>Attack And Evaluation Pipeline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338400" y="576000"/>
            <a:ext cx="7560000" cy="2448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8ea6ba"/>
                </a:solidFill>
                <a:latin typeface="Aptos"/>
              </a:rPr>
              <a:t>Valid candidates only, but validity is not the same as label preservation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324000" y="864000"/>
            <a:ext cx="11340000" cy="162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28800" bIns="-28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432000" y="1296000"/>
            <a:ext cx="5040000" cy="36720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9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1900" spc="-1" strike="noStrike">
                <a:solidFill>
                  <a:srgbClr val="f8fafc"/>
                </a:solidFill>
                <a:latin typeface="Aptos"/>
              </a:rPr>
              <a:t>Attack families: substitution, rearrangement, insertion, deletion, randomization/MCMC infrastructure.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1900" spc="-1" strike="noStrike">
                <a:solidFill>
                  <a:srgbClr val="f8fafc"/>
                </a:solidFill>
                <a:latin typeface="Aptos"/>
              </a:rPr>
              <a:t>Candidates pass token-role protections, RDKit parsing, plausibility filters, and prediction drift scoring.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1900" spc="-1" strike="noStrike">
                <a:solidFill>
                  <a:srgbClr val="f8fafc"/>
                </a:solidFill>
                <a:latin typeface="Aptos"/>
              </a:rPr>
              <a:t>Phase 2B symmetrical evaluation used identical candidate sets for baseline and defended models.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1900" spc="-1" strike="noStrike">
                <a:solidFill>
                  <a:srgbClr val="f8fafc"/>
                </a:solidFill>
                <a:latin typeface="Aptos"/>
              </a:rPr>
              <a:t>Threshold in Tg audit: 52.02 K, equal to Phase 1 test MAE, but the test set has only 6 samples.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6264000" y="1368000"/>
            <a:ext cx="3744000" cy="414000"/>
          </a:xfrm>
          <a:prstGeom prst="rect">
            <a:avLst/>
          </a:prstGeom>
          <a:solidFill>
            <a:srgbClr val="102b42"/>
          </a:solidFill>
          <a:ln w="0">
            <a:solidFill>
              <a:srgbClr val="22c55e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1900" spc="-1" strike="noStrike">
                <a:solidFill>
                  <a:srgbClr val="f8fafc"/>
                </a:solidFill>
                <a:latin typeface="Aptos"/>
              </a:rPr>
              <a:t>candidate sets identical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  <a:p>
            <a:r>
              <a:rPr b="1" lang="en-US" sz="1900" spc="-1" strike="noStrike">
                <a:solidFill>
                  <a:srgbClr val="f8fafc"/>
                </a:solidFill>
                <a:latin typeface="Aptos"/>
              </a:rPr>
              <a:t>true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6264000" y="2034000"/>
            <a:ext cx="3744000" cy="414000"/>
          </a:xfrm>
          <a:prstGeom prst="rect">
            <a:avLst/>
          </a:prstGeom>
          <a:solidFill>
            <a:srgbClr val="102b42"/>
          </a:solidFill>
          <a:ln w="0">
            <a:solidFill>
              <a:srgbClr val="38bdf8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1900" spc="-1" strike="noStrike">
                <a:solidFill>
                  <a:srgbClr val="f8fafc"/>
                </a:solidFill>
                <a:latin typeface="Aptos"/>
              </a:rPr>
              <a:t>Phase 2B candidates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  <a:p>
            <a:r>
              <a:rPr b="1" lang="en-US" sz="1900" spc="-1" strike="noStrike">
                <a:solidFill>
                  <a:srgbClr val="f8fafc"/>
                </a:solidFill>
                <a:latin typeface="Aptos"/>
              </a:rPr>
              <a:t>651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6264000" y="2700000"/>
            <a:ext cx="3744000" cy="414000"/>
          </a:xfrm>
          <a:prstGeom prst="rect">
            <a:avLst/>
          </a:prstGeom>
          <a:solidFill>
            <a:srgbClr val="102b42"/>
          </a:solidFill>
          <a:ln w="0">
            <a:solidFill>
              <a:srgbClr val="38bdf8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1900" spc="-1" strike="noStrike">
                <a:solidFill>
                  <a:srgbClr val="f8fafc"/>
                </a:solidFill>
                <a:latin typeface="Aptos"/>
              </a:rPr>
              <a:t>unique candidates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  <a:p>
            <a:r>
              <a:rPr b="1" lang="en-US" sz="1900" spc="-1" strike="noStrike">
                <a:solidFill>
                  <a:srgbClr val="f8fafc"/>
                </a:solidFill>
                <a:latin typeface="Aptos"/>
              </a:rPr>
              <a:t>651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6264000" y="3366000"/>
            <a:ext cx="3744000" cy="414000"/>
          </a:xfrm>
          <a:prstGeom prst="rect">
            <a:avLst/>
          </a:prstGeom>
          <a:solidFill>
            <a:srgbClr val="102b42"/>
          </a:solidFill>
          <a:ln w="0">
            <a:solidFill>
              <a:srgbClr val="38bdf8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1900" spc="-1" strike="noStrike">
                <a:solidFill>
                  <a:srgbClr val="f8fafc"/>
                </a:solidFill>
                <a:latin typeface="Aptos"/>
              </a:rPr>
              <a:t>overlap with old Phase 1E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  <a:p>
            <a:r>
              <a:rPr b="1" lang="en-US" sz="1900" spc="-1" strike="noStrike">
                <a:solidFill>
                  <a:srgbClr val="f8fafc"/>
                </a:solidFill>
                <a:latin typeface="Aptos"/>
              </a:rPr>
              <a:t>21.97%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/>
          <p:nvPr/>
        </p:nvSpPr>
        <p:spPr>
          <a:xfrm>
            <a:off x="0" y="0"/>
            <a:ext cx="11988000" cy="67320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324000" y="223200"/>
            <a:ext cx="11340000" cy="3528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800" spc="-1" strike="noStrike">
                <a:solidFill>
                  <a:srgbClr val="f8fafc"/>
                </a:solidFill>
                <a:latin typeface="Aptos"/>
              </a:rPr>
              <a:t>Baseline Findings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338400" y="576000"/>
            <a:ext cx="7560000" cy="2448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8ea6ba"/>
                </a:solidFill>
                <a:latin typeface="Aptos"/>
              </a:rPr>
              <a:t>The model is unstable, but clean performance is fragile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324000" y="864000"/>
            <a:ext cx="11340000" cy="162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28800" bIns="-28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468000" y="1260000"/>
            <a:ext cx="5112000" cy="33480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Tg Phase 1 baseline validation MAE: 79.04 K; test MAE: 52.02 K.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Validation R²: -0.150; test R²: -4.246.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The negative R² values mean clean predictive claims are weak in this Tg split.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The model still exhibits real prediction drift under token perturbations.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6264000" y="1548000"/>
            <a:ext cx="4320000" cy="1800000"/>
          </a:xfrm>
          <a:prstGeom prst="rect">
            <a:avLst/>
          </a:prstGeom>
          <a:solidFill>
            <a:srgbClr val="13283a"/>
          </a:solidFill>
          <a:ln w="0">
            <a:solidFill>
              <a:srgbClr val="f59e0b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300" spc="-1" strike="noStrike">
                <a:solidFill>
                  <a:srgbClr val="f8fafc"/>
                </a:solidFill>
                <a:latin typeface="Aptos"/>
              </a:rPr>
              <a:t>Interpretation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  <a:p>
            <a:r>
              <a:rPr b="1" lang="en-US" sz="2300" spc="-1" strike="noStrike">
                <a:solidFill>
                  <a:srgbClr val="f8fafc"/>
                </a:solidFill>
                <a:latin typeface="Aptos"/>
              </a:rPr>
              <a:t>The audit preserves the vulnerability finding but downgrades the explanation: unstable model behavior is real; the causal story was wrong.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>
            <a:off x="0" y="0"/>
            <a:ext cx="11988000" cy="67320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324000" y="223200"/>
            <a:ext cx="11340000" cy="3528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800" spc="-1" strike="noStrike">
                <a:solidFill>
                  <a:srgbClr val="f8fafc"/>
                </a:solidFill>
                <a:latin typeface="Aptos"/>
              </a:rPr>
              <a:t>Forensic Result 1: Length Claim Refuted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338400" y="576000"/>
            <a:ext cx="7560000" cy="2448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8ea6ba"/>
                </a:solidFill>
                <a:latin typeface="Aptos"/>
              </a:rPr>
              <a:t>Length-preserving controls drift as much as length-changing edits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324000" y="864000"/>
            <a:ext cx="11340000" cy="162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28800" bIns="-28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792000" y="1548000"/>
            <a:ext cx="1872000" cy="2016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f8fafc"/>
                </a:solidFill>
                <a:latin typeface="Aptos"/>
              </a:rPr>
              <a:t>shuffle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2736000" y="1580400"/>
            <a:ext cx="2232000" cy="115200"/>
          </a:xfrm>
          <a:prstGeom prst="rect">
            <a:avLst/>
          </a:prstGeom>
          <a:solidFill>
            <a:srgbClr val="12283b"/>
          </a:solidFill>
          <a:ln w="0">
            <a:solidFill>
              <a:srgbClr val="12283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2736000" y="1580400"/>
            <a:ext cx="1702800" cy="115200"/>
          </a:xfrm>
          <a:prstGeom prst="rect">
            <a:avLst/>
          </a:prstGeom>
          <a:solidFill>
            <a:srgbClr val="ef4444"/>
          </a:solidFill>
          <a:ln w="0">
            <a:solidFill>
              <a:srgbClr val="ef4444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5040000" y="1533600"/>
            <a:ext cx="648000" cy="1872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97200" bIns="79200" anchor="t" anchorCtr="1">
            <a:noAutofit/>
          </a:bodyPr>
          <a:p>
            <a:r>
              <a:rPr b="1" lang="en-US" sz="1500" spc="-1" strike="noStrike">
                <a:solidFill>
                  <a:srgbClr val="f8fafc"/>
                </a:solidFill>
                <a:latin typeface="Aptos"/>
              </a:rPr>
              <a:t>32.05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792000" y="2088000"/>
            <a:ext cx="1872000" cy="2016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f8fafc"/>
                </a:solidFill>
                <a:latin typeface="Aptos"/>
              </a:rPr>
              <a:t>reverse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736000" y="2120400"/>
            <a:ext cx="2232000" cy="115200"/>
          </a:xfrm>
          <a:prstGeom prst="rect">
            <a:avLst/>
          </a:prstGeom>
          <a:solidFill>
            <a:srgbClr val="12283b"/>
          </a:solidFill>
          <a:ln w="0">
            <a:solidFill>
              <a:srgbClr val="12283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2736000" y="2120400"/>
            <a:ext cx="1617480" cy="115200"/>
          </a:xfrm>
          <a:prstGeom prst="rect">
            <a:avLst/>
          </a:prstGeom>
          <a:solidFill>
            <a:srgbClr val="ef4444"/>
          </a:solidFill>
          <a:ln w="0">
            <a:solidFill>
              <a:srgbClr val="ef4444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5040000" y="2073600"/>
            <a:ext cx="648000" cy="1872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97200" bIns="79200" anchor="t" anchorCtr="1">
            <a:noAutofit/>
          </a:bodyPr>
          <a:p>
            <a:r>
              <a:rPr b="1" lang="en-US" sz="1500" spc="-1" strike="noStrike">
                <a:solidFill>
                  <a:srgbClr val="f8fafc"/>
                </a:solidFill>
                <a:latin typeface="Aptos"/>
              </a:rPr>
              <a:t>30.44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792000" y="2628000"/>
            <a:ext cx="1872000" cy="2016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f8fafc"/>
                </a:solidFill>
                <a:latin typeface="Aptos"/>
              </a:rPr>
              <a:t>duplicate_plus1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2736000" y="2660400"/>
            <a:ext cx="2232000" cy="115200"/>
          </a:xfrm>
          <a:prstGeom prst="rect">
            <a:avLst/>
          </a:prstGeom>
          <a:solidFill>
            <a:srgbClr val="12283b"/>
          </a:solidFill>
          <a:ln w="0">
            <a:solidFill>
              <a:srgbClr val="12283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2736000" y="2660400"/>
            <a:ext cx="1325880" cy="1152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5040000" y="2613600"/>
            <a:ext cx="648000" cy="1872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97200" bIns="79200" anchor="t" anchorCtr="1">
            <a:noAutofit/>
          </a:bodyPr>
          <a:p>
            <a:r>
              <a:rPr b="1" lang="en-US" sz="1500" spc="-1" strike="noStrike">
                <a:solidFill>
                  <a:srgbClr val="f8fafc"/>
                </a:solidFill>
                <a:latin typeface="Aptos"/>
              </a:rPr>
              <a:t>24.96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6300000" y="1620000"/>
            <a:ext cx="4248000" cy="1872000"/>
          </a:xfrm>
          <a:prstGeom prst="rect">
            <a:avLst/>
          </a:prstGeom>
          <a:solidFill>
            <a:srgbClr val="271a1a"/>
          </a:solidFill>
          <a:ln w="0">
            <a:solidFill>
              <a:srgbClr val="ef4444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300" spc="-1" strike="noStrike">
                <a:solidFill>
                  <a:srgbClr val="f8fafc"/>
                </a:solidFill>
                <a:latin typeface="Aptos"/>
              </a:rPr>
              <a:t>Audit conclusion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  <a:p>
            <a:r>
              <a:rPr b="1" lang="en-US" sz="2300" spc="-1" strike="noStrike">
                <a:solidFill>
                  <a:srgbClr val="f8fafc"/>
                </a:solidFill>
                <a:latin typeface="Aptos"/>
              </a:rPr>
              <a:t>Shuffle and reverse preserve length and token multiset, yet produce 30-32 K mean drift across five seeds. The model is not specifically length-sensitive.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"/>
          <p:cNvSpPr/>
          <p:nvPr/>
        </p:nvSpPr>
        <p:spPr>
          <a:xfrm>
            <a:off x="0" y="0"/>
            <a:ext cx="11988000" cy="67320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324000" y="223200"/>
            <a:ext cx="11340000" cy="3528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800" spc="-1" strike="noStrike">
                <a:solidFill>
                  <a:srgbClr val="f8fafc"/>
                </a:solidFill>
                <a:latin typeface="Aptos"/>
              </a:rPr>
              <a:t>Forensic Result 2: Pooling Dilution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338400" y="576000"/>
            <a:ext cx="7560000" cy="2448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8ea6ba"/>
                </a:solidFill>
                <a:latin typeface="Aptos"/>
              </a:rPr>
              <a:t>Drift scales with 1/L, exactly what mean pooling predicts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324000" y="864000"/>
            <a:ext cx="11340000" cy="162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28800" bIns="-28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504000" y="1404000"/>
            <a:ext cx="1872000" cy="2016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f8fafc"/>
                </a:solidFill>
                <a:latin typeface="Aptos"/>
              </a:rPr>
              <a:t>[0,15) insertion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2448000" y="1436400"/>
            <a:ext cx="2232000" cy="115200"/>
          </a:xfrm>
          <a:prstGeom prst="rect">
            <a:avLst/>
          </a:prstGeom>
          <a:solidFill>
            <a:srgbClr val="12283b"/>
          </a:solidFill>
          <a:ln w="0">
            <a:solidFill>
              <a:srgbClr val="12283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2448000" y="1436400"/>
            <a:ext cx="2102040" cy="1152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4752000" y="1389600"/>
            <a:ext cx="648000" cy="1872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97200" bIns="79200" anchor="t" anchorCtr="1">
            <a:noAutofit/>
          </a:bodyPr>
          <a:p>
            <a:r>
              <a:rPr b="1" lang="en-US" sz="1500" spc="-1" strike="noStrike">
                <a:solidFill>
                  <a:srgbClr val="f8fafc"/>
                </a:solidFill>
                <a:latin typeface="Aptos"/>
              </a:rPr>
              <a:t>75.34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504000" y="1764000"/>
            <a:ext cx="1872000" cy="2016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f8fafc"/>
                </a:solidFill>
                <a:latin typeface="Aptos"/>
              </a:rPr>
              <a:t>[0,15) deletion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2448000" y="1796400"/>
            <a:ext cx="2232000" cy="115200"/>
          </a:xfrm>
          <a:prstGeom prst="rect">
            <a:avLst/>
          </a:prstGeom>
          <a:solidFill>
            <a:srgbClr val="12283b"/>
          </a:solidFill>
          <a:ln w="0">
            <a:solidFill>
              <a:srgbClr val="12283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2448000" y="1796400"/>
            <a:ext cx="1286640" cy="115200"/>
          </a:xfrm>
          <a:prstGeom prst="rect">
            <a:avLst/>
          </a:prstGeom>
          <a:solidFill>
            <a:srgbClr val="38bdf8"/>
          </a:solidFill>
          <a:ln w="0">
            <a:solidFill>
              <a:srgbClr val="38bdf8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4752000" y="1749600"/>
            <a:ext cx="648000" cy="1872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97200" bIns="79200" anchor="t" anchorCtr="1">
            <a:noAutofit/>
          </a:bodyPr>
          <a:p>
            <a:r>
              <a:rPr b="1" lang="en-US" sz="1500" spc="-1" strike="noStrike">
                <a:solidFill>
                  <a:srgbClr val="f8fafc"/>
                </a:solidFill>
                <a:latin typeface="Aptos"/>
              </a:rPr>
              <a:t>46.12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504000" y="2214000"/>
            <a:ext cx="1872000" cy="2016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f8fafc"/>
                </a:solidFill>
                <a:latin typeface="Aptos"/>
              </a:rPr>
              <a:t>[15,30) insertion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2448000" y="2246400"/>
            <a:ext cx="2232000" cy="115200"/>
          </a:xfrm>
          <a:prstGeom prst="rect">
            <a:avLst/>
          </a:prstGeom>
          <a:solidFill>
            <a:srgbClr val="12283b"/>
          </a:solidFill>
          <a:ln w="0">
            <a:solidFill>
              <a:srgbClr val="12283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2448000" y="2246400"/>
            <a:ext cx="1526400" cy="1152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4752000" y="2199600"/>
            <a:ext cx="648000" cy="1872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97200" bIns="79200" anchor="t" anchorCtr="1">
            <a:noAutofit/>
          </a:bodyPr>
          <a:p>
            <a:r>
              <a:rPr b="1" lang="en-US" sz="1500" spc="-1" strike="noStrike">
                <a:solidFill>
                  <a:srgbClr val="f8fafc"/>
                </a:solidFill>
                <a:latin typeface="Aptos"/>
              </a:rPr>
              <a:t>54.72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504000" y="2574000"/>
            <a:ext cx="1872000" cy="2016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f8fafc"/>
                </a:solidFill>
                <a:latin typeface="Aptos"/>
              </a:rPr>
              <a:t>[15,30) deletion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2448000" y="2606400"/>
            <a:ext cx="2232000" cy="115200"/>
          </a:xfrm>
          <a:prstGeom prst="rect">
            <a:avLst/>
          </a:prstGeom>
          <a:solidFill>
            <a:srgbClr val="12283b"/>
          </a:solidFill>
          <a:ln w="0">
            <a:solidFill>
              <a:srgbClr val="12283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2448000" y="2606400"/>
            <a:ext cx="1118880" cy="115200"/>
          </a:xfrm>
          <a:prstGeom prst="rect">
            <a:avLst/>
          </a:prstGeom>
          <a:solidFill>
            <a:srgbClr val="38bdf8"/>
          </a:solidFill>
          <a:ln w="0">
            <a:solidFill>
              <a:srgbClr val="38bdf8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4752000" y="2559600"/>
            <a:ext cx="648000" cy="1872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97200" bIns="79200" anchor="t" anchorCtr="1">
            <a:noAutofit/>
          </a:bodyPr>
          <a:p>
            <a:r>
              <a:rPr b="1" lang="en-US" sz="1500" spc="-1" strike="noStrike">
                <a:solidFill>
                  <a:srgbClr val="f8fafc"/>
                </a:solidFill>
                <a:latin typeface="Aptos"/>
              </a:rPr>
              <a:t>40.11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504000" y="3024000"/>
            <a:ext cx="1872000" cy="2016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f8fafc"/>
                </a:solidFill>
                <a:latin typeface="Aptos"/>
              </a:rPr>
              <a:t>[30,60) insertion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2448000" y="3056400"/>
            <a:ext cx="2232000" cy="115200"/>
          </a:xfrm>
          <a:prstGeom prst="rect">
            <a:avLst/>
          </a:prstGeom>
          <a:solidFill>
            <a:srgbClr val="12283b"/>
          </a:solidFill>
          <a:ln w="0">
            <a:solidFill>
              <a:srgbClr val="12283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2448000" y="3056400"/>
            <a:ext cx="746640" cy="1152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4752000" y="3009600"/>
            <a:ext cx="648000" cy="1872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97200" bIns="79200" anchor="t" anchorCtr="1">
            <a:noAutofit/>
          </a:bodyPr>
          <a:p>
            <a:r>
              <a:rPr b="1" lang="en-US" sz="1500" spc="-1" strike="noStrike">
                <a:solidFill>
                  <a:srgbClr val="f8fafc"/>
                </a:solidFill>
                <a:latin typeface="Aptos"/>
              </a:rPr>
              <a:t>26.76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504000" y="3384000"/>
            <a:ext cx="1872000" cy="2016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f8fafc"/>
                </a:solidFill>
                <a:latin typeface="Aptos"/>
              </a:rPr>
              <a:t>[30,60) deletion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2448000" y="3416400"/>
            <a:ext cx="2232000" cy="115200"/>
          </a:xfrm>
          <a:prstGeom prst="rect">
            <a:avLst/>
          </a:prstGeom>
          <a:solidFill>
            <a:srgbClr val="12283b"/>
          </a:solidFill>
          <a:ln w="0">
            <a:solidFill>
              <a:srgbClr val="12283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2448000" y="3416400"/>
            <a:ext cx="485640" cy="115200"/>
          </a:xfrm>
          <a:prstGeom prst="rect">
            <a:avLst/>
          </a:prstGeom>
          <a:solidFill>
            <a:srgbClr val="38bdf8"/>
          </a:solidFill>
          <a:ln w="0">
            <a:solidFill>
              <a:srgbClr val="38bdf8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4752000" y="3369600"/>
            <a:ext cx="648000" cy="1872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97200" bIns="79200" anchor="t" anchorCtr="1">
            <a:noAutofit/>
          </a:bodyPr>
          <a:p>
            <a:r>
              <a:rPr b="1" lang="en-US" sz="1500" spc="-1" strike="noStrike">
                <a:solidFill>
                  <a:srgbClr val="f8fafc"/>
                </a:solidFill>
                <a:latin typeface="Aptos"/>
              </a:rPr>
              <a:t>17.41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504000" y="3834000"/>
            <a:ext cx="1872000" cy="2016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f8fafc"/>
                </a:solidFill>
                <a:latin typeface="Aptos"/>
              </a:rPr>
              <a:t>[60,999) insertion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2448000" y="3866400"/>
            <a:ext cx="2232000" cy="115200"/>
          </a:xfrm>
          <a:prstGeom prst="rect">
            <a:avLst/>
          </a:prstGeom>
          <a:solidFill>
            <a:srgbClr val="12283b"/>
          </a:solidFill>
          <a:ln w="0">
            <a:solidFill>
              <a:srgbClr val="12283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2448000" y="3866400"/>
            <a:ext cx="536760" cy="1152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4752000" y="3819600"/>
            <a:ext cx="648000" cy="1872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97200" bIns="79200" anchor="t" anchorCtr="1">
            <a:noAutofit/>
          </a:bodyPr>
          <a:p>
            <a:r>
              <a:rPr b="1" lang="en-US" sz="1500" spc="-1" strike="noStrike">
                <a:solidFill>
                  <a:srgbClr val="f8fafc"/>
                </a:solidFill>
                <a:latin typeface="Aptos"/>
              </a:rPr>
              <a:t>19.25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504000" y="4194000"/>
            <a:ext cx="1872000" cy="2016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f8fafc"/>
                </a:solidFill>
                <a:latin typeface="Aptos"/>
              </a:rPr>
              <a:t>[60,999) deletion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2448000" y="4226400"/>
            <a:ext cx="2232000" cy="115200"/>
          </a:xfrm>
          <a:prstGeom prst="rect">
            <a:avLst/>
          </a:prstGeom>
          <a:solidFill>
            <a:srgbClr val="12283b"/>
          </a:solidFill>
          <a:ln w="0">
            <a:solidFill>
              <a:srgbClr val="12283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2448000" y="4226400"/>
            <a:ext cx="614160" cy="115200"/>
          </a:xfrm>
          <a:prstGeom prst="rect">
            <a:avLst/>
          </a:prstGeom>
          <a:solidFill>
            <a:srgbClr val="38bdf8"/>
          </a:solidFill>
          <a:ln w="0">
            <a:solidFill>
              <a:srgbClr val="38bdf8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4752000" y="4179600"/>
            <a:ext cx="648000" cy="1872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97200" bIns="79200" anchor="t" anchorCtr="1">
            <a:noAutofit/>
          </a:bodyPr>
          <a:p>
            <a:r>
              <a:rPr b="1" lang="en-US" sz="1500" spc="-1" strike="noStrike">
                <a:solidFill>
                  <a:srgbClr val="f8fafc"/>
                </a:solidFill>
                <a:latin typeface="Aptos"/>
              </a:rPr>
              <a:t>22.01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6732000" y="1548000"/>
            <a:ext cx="3672000" cy="1692000"/>
          </a:xfrm>
          <a:prstGeom prst="rect">
            <a:avLst/>
          </a:prstGeom>
          <a:solidFill>
            <a:srgbClr val="102b42"/>
          </a:solidFill>
          <a:ln w="0">
            <a:solidFill>
              <a:srgbClr val="f59e0b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400" spc="-1" strike="noStrike">
                <a:solidFill>
                  <a:srgbClr val="f8fafc"/>
                </a:solidFill>
                <a:latin typeface="Aptos"/>
              </a:rPr>
              <a:t>Correlations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r>
              <a:rPr b="1" lang="en-US" sz="2400" spc="-1" strike="noStrike">
                <a:solidFill>
                  <a:srgbClr val="f8fafc"/>
                </a:solidFill>
                <a:latin typeface="Aptos"/>
              </a:rPr>
              <a:t>length vs insertion drift: -0.502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r>
              <a:rPr b="1" lang="en-US" sz="2400" spc="-1" strike="noStrike">
                <a:solidFill>
                  <a:srgbClr val="f8fafc"/>
                </a:solidFill>
                <a:latin typeface="Aptos"/>
              </a:rPr>
              <a:t>1/length vs insertion drift: 0.575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"/>
          <p:cNvSpPr/>
          <p:nvPr/>
        </p:nvSpPr>
        <p:spPr>
          <a:xfrm>
            <a:off x="0" y="0"/>
            <a:ext cx="11988000" cy="67320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324000" y="223200"/>
            <a:ext cx="11340000" cy="3528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800" spc="-1" strike="noStrike">
                <a:solidFill>
                  <a:srgbClr val="f8fafc"/>
                </a:solidFill>
                <a:latin typeface="Aptos"/>
              </a:rPr>
              <a:t>Forensic Result 3: Attacks Are Unequal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338400" y="576000"/>
            <a:ext cx="7560000" cy="2448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8ea6ba"/>
                </a:solidFill>
                <a:latin typeface="Aptos"/>
              </a:rPr>
              <a:t>Attack-family comparisons confound mechanism with chemical severity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324000" y="864000"/>
            <a:ext cx="11340000" cy="162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28800" bIns="-28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468000" y="1332000"/>
            <a:ext cx="10512000" cy="378000"/>
          </a:xfrm>
          <a:prstGeom prst="rect">
            <a:avLst/>
          </a:prstGeom>
          <a:solidFill>
            <a:srgbClr val="102b42"/>
          </a:solidFill>
          <a:ln w="0">
            <a:solidFill>
              <a:srgbClr val="38bdf8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substitution: n=88 | validity=48.6% | mean ΔMW=10.79 | formula preserved=0.0% | mean drift=12.97 K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468000" y="1818000"/>
            <a:ext cx="10512000" cy="378000"/>
          </a:xfrm>
          <a:prstGeom prst="rect">
            <a:avLst/>
          </a:prstGeom>
          <a:solidFill>
            <a:srgbClr val="102b42"/>
          </a:solidFill>
          <a:ln w="0">
            <a:solidFill>
              <a:srgbClr val="f59e0b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insertion: n=85 | validity=45.9% | mean ΔMW=15.75 | formula preserved=12.9% | mean drift=30.67 K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468000" y="2304000"/>
            <a:ext cx="10512000" cy="378000"/>
          </a:xfrm>
          <a:prstGeom prst="rect">
            <a:avLst/>
          </a:prstGeom>
          <a:solidFill>
            <a:srgbClr val="102b42"/>
          </a:solidFill>
          <a:ln w="0">
            <a:solidFill>
              <a:srgbClr val="f59e0b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deletion: n=94 | validity=50.8% | mean ΔMW=12.28 | formula preserved=2.1% | mean drift=30.73 K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468000" y="2790000"/>
            <a:ext cx="10512000" cy="378000"/>
          </a:xfrm>
          <a:prstGeom prst="rect">
            <a:avLst/>
          </a:prstGeom>
          <a:solidFill>
            <a:srgbClr val="102b42"/>
          </a:solidFill>
          <a:ln w="0">
            <a:solidFill>
              <a:srgbClr val="22c55e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rearrangement: n=63 | validity=63.0% | mean ΔMW=0.00 | formula preserved=100.0% | mean drift=7.99 K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1512000" y="3456000"/>
            <a:ext cx="8496000" cy="576000"/>
          </a:xfrm>
          <a:prstGeom prst="rect">
            <a:avLst/>
          </a:prstGeom>
          <a:solidFill>
            <a:srgbClr val="271a1a"/>
          </a:solidFill>
          <a:ln w="0">
            <a:solidFill>
              <a:srgbClr val="ef4444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2100" spc="-1" strike="noStrike">
                <a:solidFill>
                  <a:srgbClr val="f8fafc"/>
                </a:solidFill>
                <a:latin typeface="Aptos"/>
              </a:rPr>
              <a:t>Rearrangement preserves formula in 100% of valid cases; insertion/deletion change heavy atoms. These are not matched experimental treatments.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>
            <a:off x="0" y="0"/>
            <a:ext cx="11988000" cy="67320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324000" y="223200"/>
            <a:ext cx="11340000" cy="3528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800" spc="-1" strike="noStrike">
                <a:solidFill>
                  <a:srgbClr val="f8fafc"/>
                </a:solidFill>
                <a:latin typeface="Aptos"/>
              </a:rPr>
              <a:t>Forensic Result 4: Controls Beat The Transformer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338400" y="576000"/>
            <a:ext cx="7560000" cy="2448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8ea6ba"/>
                </a:solidFill>
                <a:latin typeface="Aptos"/>
              </a:rPr>
              <a:t>The model has not demonstrably learned chemistry in the Tg audit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324000" y="864000"/>
            <a:ext cx="11340000" cy="162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28800" bIns="-28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684000" y="1476000"/>
            <a:ext cx="1872000" cy="2016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f8fafc"/>
                </a:solidFill>
                <a:latin typeface="Aptos"/>
              </a:rPr>
              <a:t>Mean predictor val MAE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2628000" y="1508400"/>
            <a:ext cx="2232000" cy="115200"/>
          </a:xfrm>
          <a:prstGeom prst="rect">
            <a:avLst/>
          </a:prstGeom>
          <a:solidFill>
            <a:srgbClr val="12283b"/>
          </a:solidFill>
          <a:ln w="0">
            <a:solidFill>
              <a:srgbClr val="12283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2628000" y="1508400"/>
            <a:ext cx="2078640" cy="115200"/>
          </a:xfrm>
          <a:prstGeom prst="rect">
            <a:avLst/>
          </a:prstGeom>
          <a:solidFill>
            <a:srgbClr val="8ea6ba"/>
          </a:solidFill>
          <a:ln w="0">
            <a:solidFill>
              <a:srgbClr val="8ea6ba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4932000" y="1461600"/>
            <a:ext cx="648000" cy="1872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97200" bIns="79200" anchor="t" anchorCtr="1">
            <a:noAutofit/>
          </a:bodyPr>
          <a:p>
            <a:r>
              <a:rPr b="1" lang="en-US" sz="1500" spc="-1" strike="noStrike">
                <a:solidFill>
                  <a:srgbClr val="f8fafc"/>
                </a:solidFill>
                <a:latin typeface="Aptos"/>
              </a:rPr>
              <a:t>88.48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684000" y="1962000"/>
            <a:ext cx="1872000" cy="2016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f8fafc"/>
                </a:solidFill>
                <a:latin typeface="Aptos"/>
              </a:rPr>
              <a:t>Length-only val MAE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2628000" y="1994400"/>
            <a:ext cx="2232000" cy="115200"/>
          </a:xfrm>
          <a:prstGeom prst="rect">
            <a:avLst/>
          </a:prstGeom>
          <a:solidFill>
            <a:srgbClr val="12283b"/>
          </a:solidFill>
          <a:ln w="0">
            <a:solidFill>
              <a:srgbClr val="12283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2628000" y="1994400"/>
            <a:ext cx="1803600" cy="115200"/>
          </a:xfrm>
          <a:prstGeom prst="rect">
            <a:avLst/>
          </a:prstGeom>
          <a:solidFill>
            <a:srgbClr val="22c55e"/>
          </a:solidFill>
          <a:ln w="0">
            <a:solidFill>
              <a:srgbClr val="22c55e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4932000" y="1947600"/>
            <a:ext cx="648000" cy="1872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97200" bIns="79200" anchor="t" anchorCtr="1">
            <a:noAutofit/>
          </a:bodyPr>
          <a:p>
            <a:r>
              <a:rPr b="1" lang="en-US" sz="1500" spc="-1" strike="noStrike">
                <a:solidFill>
                  <a:srgbClr val="f8fafc"/>
                </a:solidFill>
                <a:latin typeface="Aptos"/>
              </a:rPr>
              <a:t>76.77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684000" y="2448000"/>
            <a:ext cx="1872000" cy="2016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f8fafc"/>
                </a:solidFill>
                <a:latin typeface="Aptos"/>
              </a:rPr>
              <a:t>Bag-of-tokens val MAE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2628000" y="2480400"/>
            <a:ext cx="2232000" cy="115200"/>
          </a:xfrm>
          <a:prstGeom prst="rect">
            <a:avLst/>
          </a:prstGeom>
          <a:solidFill>
            <a:srgbClr val="12283b"/>
          </a:solidFill>
          <a:ln w="0">
            <a:solidFill>
              <a:srgbClr val="12283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2628000" y="2480400"/>
            <a:ext cx="1869840" cy="115200"/>
          </a:xfrm>
          <a:prstGeom prst="rect">
            <a:avLst/>
          </a:prstGeom>
          <a:solidFill>
            <a:srgbClr val="38bdf8"/>
          </a:solidFill>
          <a:ln w="0">
            <a:solidFill>
              <a:srgbClr val="38bdf8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4932000" y="2433600"/>
            <a:ext cx="648000" cy="1872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97200" bIns="79200" anchor="t" anchorCtr="1">
            <a:noAutofit/>
          </a:bodyPr>
          <a:p>
            <a:r>
              <a:rPr b="1" lang="en-US" sz="1500" spc="-1" strike="noStrike">
                <a:solidFill>
                  <a:srgbClr val="f8fafc"/>
                </a:solidFill>
                <a:latin typeface="Aptos"/>
              </a:rPr>
              <a:t>79.59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684000" y="2934000"/>
            <a:ext cx="1872000" cy="2016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f8fafc"/>
                </a:solidFill>
                <a:latin typeface="Aptos"/>
              </a:rPr>
              <a:t>Transformer val MAE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2628000" y="2966400"/>
            <a:ext cx="2232000" cy="115200"/>
          </a:xfrm>
          <a:prstGeom prst="rect">
            <a:avLst/>
          </a:prstGeom>
          <a:solidFill>
            <a:srgbClr val="12283b"/>
          </a:solidFill>
          <a:ln w="0">
            <a:solidFill>
              <a:srgbClr val="12283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2628000" y="2966400"/>
            <a:ext cx="1856880" cy="1152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4932000" y="2919600"/>
            <a:ext cx="648000" cy="1872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97200" bIns="79200" anchor="t" anchorCtr="1">
            <a:noAutofit/>
          </a:bodyPr>
          <a:p>
            <a:r>
              <a:rPr b="1" lang="en-US" sz="1500" spc="-1" strike="noStrike">
                <a:solidFill>
                  <a:srgbClr val="f8fafc"/>
                </a:solidFill>
                <a:latin typeface="Aptos"/>
              </a:rPr>
              <a:t>79.04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6336000" y="1512000"/>
            <a:ext cx="4140000" cy="1692000"/>
          </a:xfrm>
          <a:prstGeom prst="rect">
            <a:avLst/>
          </a:prstGeom>
          <a:solidFill>
            <a:srgbClr val="271a1a"/>
          </a:solidFill>
          <a:ln w="0">
            <a:solidFill>
              <a:srgbClr val="ef4444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300" spc="-1" strike="noStrike">
                <a:solidFill>
                  <a:srgbClr val="f8fafc"/>
                </a:solidFill>
                <a:latin typeface="Aptos"/>
              </a:rPr>
              <a:t>The uncomfortable result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  <a:p>
            <a:r>
              <a:rPr b="1" lang="en-US" sz="2300" spc="-1" strike="noStrike">
                <a:solidFill>
                  <a:srgbClr val="f8fafc"/>
                </a:solidFill>
                <a:latin typeface="Aptos"/>
              </a:rPr>
              <a:t>A one-feature length-only regression beats the Transformer on validation: 76.77 K vs 79.04 K.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"/>
          <p:cNvSpPr/>
          <p:nvPr/>
        </p:nvSpPr>
        <p:spPr>
          <a:xfrm>
            <a:off x="0" y="0"/>
            <a:ext cx="11988000" cy="67320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324000" y="223200"/>
            <a:ext cx="11340000" cy="3528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800" spc="-1" strike="noStrike">
                <a:solidFill>
                  <a:srgbClr val="f8fafc"/>
                </a:solidFill>
                <a:latin typeface="Aptos"/>
              </a:rPr>
              <a:t>Defended Model: What Worked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338400" y="576000"/>
            <a:ext cx="7560000" cy="2448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8ea6ba"/>
                </a:solidFill>
                <a:latin typeface="Aptos"/>
              </a:rPr>
              <a:t>Local robustness improved in Phase 2B under controlled candidate sets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324000" y="864000"/>
            <a:ext cx="11340000" cy="162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28800" bIns="-28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468000" y="1296000"/>
            <a:ext cx="4788000" cy="360000"/>
          </a:xfrm>
          <a:prstGeom prst="rect">
            <a:avLst/>
          </a:prstGeom>
          <a:solidFill>
            <a:srgbClr val="102b42"/>
          </a:solidFill>
          <a:ln w="0">
            <a:solidFill>
              <a:srgbClr val="38bdf8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substitution baseline mean drift: 12.97 K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5544000" y="1296000"/>
            <a:ext cx="4788000" cy="360000"/>
          </a:xfrm>
          <a:prstGeom prst="rect">
            <a:avLst/>
          </a:prstGeom>
          <a:solidFill>
            <a:srgbClr val="102b42"/>
          </a:solidFill>
          <a:ln w="0">
            <a:solidFill>
              <a:srgbClr val="22c55e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defended: 7.02 K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468000" y="1908000"/>
            <a:ext cx="4788000" cy="360000"/>
          </a:xfrm>
          <a:prstGeom prst="rect">
            <a:avLst/>
          </a:prstGeom>
          <a:solidFill>
            <a:srgbClr val="102b42"/>
          </a:solidFill>
          <a:ln w="0">
            <a:solidFill>
              <a:srgbClr val="38bdf8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insertion baseline mean drift: 30.67 K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5544000" y="1908000"/>
            <a:ext cx="4788000" cy="360000"/>
          </a:xfrm>
          <a:prstGeom prst="rect">
            <a:avLst/>
          </a:prstGeom>
          <a:solidFill>
            <a:srgbClr val="102b42"/>
          </a:solidFill>
          <a:ln w="0">
            <a:solidFill>
              <a:srgbClr val="22c55e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defended: 19.29 K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468000" y="2520000"/>
            <a:ext cx="4788000" cy="360000"/>
          </a:xfrm>
          <a:prstGeom prst="rect">
            <a:avLst/>
          </a:prstGeom>
          <a:solidFill>
            <a:srgbClr val="102b42"/>
          </a:solidFill>
          <a:ln w="0">
            <a:solidFill>
              <a:srgbClr val="38bdf8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deletion baseline mean drift: 30.73 K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5544000" y="2520000"/>
            <a:ext cx="4788000" cy="360000"/>
          </a:xfrm>
          <a:prstGeom prst="rect">
            <a:avLst/>
          </a:prstGeom>
          <a:solidFill>
            <a:srgbClr val="102b42"/>
          </a:solidFill>
          <a:ln w="0">
            <a:solidFill>
              <a:srgbClr val="22c55e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defended: 16.81 K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468000" y="3132000"/>
            <a:ext cx="4788000" cy="360000"/>
          </a:xfrm>
          <a:prstGeom prst="rect">
            <a:avLst/>
          </a:prstGeom>
          <a:solidFill>
            <a:srgbClr val="102b42"/>
          </a:solidFill>
          <a:ln w="0">
            <a:solidFill>
              <a:srgbClr val="38bdf8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rearrangement baseline mean drift: 7.99 K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5544000" y="3132000"/>
            <a:ext cx="4788000" cy="360000"/>
          </a:xfrm>
          <a:prstGeom prst="rect">
            <a:avLst/>
          </a:prstGeom>
          <a:solidFill>
            <a:srgbClr val="102b42"/>
          </a:solidFill>
          <a:ln w="0">
            <a:solidFill>
              <a:srgbClr val="f59e0b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1700" spc="-1" strike="noStrike">
                <a:solidFill>
                  <a:srgbClr val="f8fafc"/>
                </a:solidFill>
                <a:latin typeface="Aptos"/>
              </a:rPr>
              <a:t>defended: 8.02 K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1512000" y="4032000"/>
            <a:ext cx="8496000" cy="540000"/>
          </a:xfrm>
          <a:prstGeom prst="rect">
            <a:avLst/>
          </a:prstGeom>
          <a:solidFill>
            <a:srgbClr val="13283a"/>
          </a:solidFill>
          <a:ln w="0">
            <a:solidFill>
              <a:srgbClr val="22c55e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2100" spc="-1" strike="noStrike">
                <a:solidFill>
                  <a:srgbClr val="f8fafc"/>
                </a:solidFill>
                <a:latin typeface="Aptos"/>
              </a:rPr>
              <a:t>Pooled Phase 2B mean drift dropped by 8.48 K; 63.9% of paired candidates improved.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"/>
          <p:cNvSpPr/>
          <p:nvPr/>
        </p:nvSpPr>
        <p:spPr>
          <a:xfrm>
            <a:off x="0" y="0"/>
            <a:ext cx="11988000" cy="67320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324000" y="223200"/>
            <a:ext cx="11340000" cy="3528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800" spc="-1" strike="noStrike">
                <a:solidFill>
                  <a:srgbClr val="f8fafc"/>
                </a:solidFill>
                <a:latin typeface="Aptos"/>
              </a:rPr>
              <a:t>Defended Model: What Failed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338400" y="576000"/>
            <a:ext cx="7560000" cy="2448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8ea6ba"/>
                </a:solidFill>
                <a:latin typeface="Aptos"/>
              </a:rPr>
              <a:t>Replication and label assumptions weaken the defense claim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324000" y="864000"/>
            <a:ext cx="11340000" cy="162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28800" bIns="-28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468000" y="1260000"/>
            <a:ext cx="5220000" cy="33120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9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1900" spc="-1" strike="noStrike">
                <a:solidFill>
                  <a:srgbClr val="f8fafc"/>
                </a:solidFill>
                <a:latin typeface="Aptos"/>
              </a:rPr>
              <a:t>Phase 2C used five seeds: 20260815-20260819.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1900" spc="-1" strike="noStrike">
                <a:solidFill>
                  <a:srgbClr val="f8fafc"/>
                </a:solidFill>
                <a:latin typeface="Aptos"/>
              </a:rPr>
              <a:t>Clean evaluation remained validation-only for selection; manifest says the test set was never loaded.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1900" spc="-1" strike="noStrike">
                <a:solidFill>
                  <a:srgbClr val="f8fafc"/>
                </a:solidFill>
                <a:latin typeface="Aptos"/>
              </a:rPr>
              <a:t>The apparent Phase 2A improvement was mostly scaler mismatch; only 23.7% survived controlled decoding.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1900" spc="-1" strike="noStrike">
                <a:solidFill>
                  <a:srgbClr val="f8fafc"/>
                </a:solidFill>
                <a:latin typeface="Aptos"/>
              </a:rPr>
              <a:t>No current attack family is a valid representation-level label-preserving attack.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6336000" y="1512000"/>
            <a:ext cx="4176000" cy="1800000"/>
          </a:xfrm>
          <a:prstGeom prst="rect">
            <a:avLst/>
          </a:prstGeom>
          <a:solidFill>
            <a:srgbClr val="271a1a"/>
          </a:solidFill>
          <a:ln w="0">
            <a:solidFill>
              <a:srgbClr val="ef4444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300" spc="-1" strike="noStrike">
                <a:solidFill>
                  <a:srgbClr val="f8fafc"/>
                </a:solidFill>
                <a:latin typeface="Aptos"/>
              </a:rPr>
              <a:t>Bottom line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  <a:p>
            <a:r>
              <a:rPr b="1" lang="en-US" sz="2300" spc="-1" strike="noStrike">
                <a:solidFill>
                  <a:srgbClr val="f8fafc"/>
                </a:solidFill>
                <a:latin typeface="Aptos"/>
              </a:rPr>
              <a:t>Adversarial training may reduce seen-family drift locally, but it does not yet prove chemical invariance or general robust learning.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"/>
          <p:cNvSpPr/>
          <p:nvPr/>
        </p:nvSpPr>
        <p:spPr>
          <a:xfrm>
            <a:off x="0" y="0"/>
            <a:ext cx="11988000" cy="67320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324000" y="223200"/>
            <a:ext cx="11340000" cy="3528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800" spc="-1" strike="noStrike">
                <a:solidFill>
                  <a:srgbClr val="f8fafc"/>
                </a:solidFill>
                <a:latin typeface="Aptos"/>
              </a:rPr>
              <a:t>Research Questions Answered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338400" y="576000"/>
            <a:ext cx="7560000" cy="2448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8ea6ba"/>
                </a:solidFill>
                <a:latin typeface="Aptos"/>
              </a:rPr>
              <a:t>Exact answer from the audit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324000" y="864000"/>
            <a:ext cx="11340000" cy="162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28800" bIns="-28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504000" y="1242000"/>
            <a:ext cx="1152000" cy="414000"/>
          </a:xfrm>
          <a:prstGeom prst="rect">
            <a:avLst/>
          </a:prstGeom>
          <a:solidFill>
            <a:srgbClr val="22c55e"/>
          </a:solidFill>
          <a:ln w="0">
            <a:solidFill>
              <a:srgbClr val="22c55e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2400" spc="-1" strike="noStrike">
                <a:solidFill>
                  <a:srgbClr val="061019"/>
                </a:solidFill>
                <a:latin typeface="Aptos"/>
              </a:rPr>
              <a:t>RQ1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1800000" y="1242000"/>
            <a:ext cx="9072000" cy="414000"/>
          </a:xfrm>
          <a:prstGeom prst="rect">
            <a:avLst/>
          </a:prstGeom>
          <a:solidFill>
            <a:srgbClr val="102b42"/>
          </a:solidFill>
          <a:ln w="0">
            <a:solidFill>
              <a:srgbClr val="29445a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1900" spc="-1" strike="noStrike">
                <a:solidFill>
                  <a:srgbClr val="f8fafc"/>
                </a:solidFill>
                <a:latin typeface="Aptos"/>
              </a:rPr>
              <a:t>Yes, model instability exists: 20-40 K drift under token perturbation.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504000" y="1908000"/>
            <a:ext cx="1152000" cy="414000"/>
          </a:xfrm>
          <a:prstGeom prst="rect">
            <a:avLst/>
          </a:prstGeom>
          <a:solidFill>
            <a:srgbClr val="ef4444"/>
          </a:solidFill>
          <a:ln w="0">
            <a:solidFill>
              <a:srgbClr val="ef4444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2400" spc="-1" strike="noStrike">
                <a:solidFill>
                  <a:srgbClr val="061019"/>
                </a:solidFill>
                <a:latin typeface="Aptos"/>
              </a:rPr>
              <a:t>RQ2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1800000" y="1908000"/>
            <a:ext cx="9072000" cy="414000"/>
          </a:xfrm>
          <a:prstGeom prst="rect">
            <a:avLst/>
          </a:prstGeom>
          <a:solidFill>
            <a:srgbClr val="102b42"/>
          </a:solidFill>
          <a:ln w="0">
            <a:solidFill>
              <a:srgbClr val="29445a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1900" spc="-1" strike="noStrike">
                <a:solidFill>
                  <a:srgbClr val="f8fafc"/>
                </a:solidFill>
                <a:latin typeface="Aptos"/>
              </a:rPr>
              <a:t>No. Length is not the mechanism; length-preserving shuffle/reverse are equally disruptive.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504000" y="2574000"/>
            <a:ext cx="1152000" cy="4140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2400" spc="-1" strike="noStrike">
                <a:solidFill>
                  <a:srgbClr val="061019"/>
                </a:solidFill>
                <a:latin typeface="Aptos"/>
              </a:rPr>
              <a:t>RQ3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1800000" y="2574000"/>
            <a:ext cx="9072000" cy="414000"/>
          </a:xfrm>
          <a:prstGeom prst="rect">
            <a:avLst/>
          </a:prstGeom>
          <a:solidFill>
            <a:srgbClr val="102b42"/>
          </a:solidFill>
          <a:ln w="0">
            <a:solidFill>
              <a:srgbClr val="29445a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1900" spc="-1" strike="noStrike">
                <a:solidFill>
                  <a:srgbClr val="f8fafc"/>
                </a:solidFill>
                <a:latin typeface="Aptos"/>
              </a:rPr>
              <a:t>Only partly. Seen-family/local improvements exist, but generalization is not established.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504000" y="3240000"/>
            <a:ext cx="1152000" cy="414000"/>
          </a:xfrm>
          <a:prstGeom prst="rect">
            <a:avLst/>
          </a:prstGeom>
          <a:solidFill>
            <a:srgbClr val="ef4444"/>
          </a:solidFill>
          <a:ln w="0">
            <a:solidFill>
              <a:srgbClr val="ef4444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2400" spc="-1" strike="noStrike">
                <a:solidFill>
                  <a:srgbClr val="061019"/>
                </a:solidFill>
                <a:latin typeface="Aptos"/>
              </a:rPr>
              <a:t>RQ4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1800000" y="3240000"/>
            <a:ext cx="9072000" cy="414000"/>
          </a:xfrm>
          <a:prstGeom prst="rect">
            <a:avLst/>
          </a:prstGeom>
          <a:solidFill>
            <a:srgbClr val="102b42"/>
          </a:solidFill>
          <a:ln w="0">
            <a:solidFill>
              <a:srgbClr val="29445a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1900" spc="-1" strike="noStrike">
                <a:solidFill>
                  <a:srgbClr val="f8fafc"/>
                </a:solidFill>
                <a:latin typeface="Aptos"/>
              </a:rPr>
              <a:t>No. Current attack families change chemistry or isomerize; none is a clean representation-level attack.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504000" y="3906000"/>
            <a:ext cx="1152000" cy="4140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2400" spc="-1" strike="noStrike">
                <a:solidFill>
                  <a:srgbClr val="061019"/>
                </a:solidFill>
                <a:latin typeface="Aptos"/>
              </a:rPr>
              <a:t>RQ5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1800000" y="3906000"/>
            <a:ext cx="9072000" cy="414000"/>
          </a:xfrm>
          <a:prstGeom prst="rect">
            <a:avLst/>
          </a:prstGeom>
          <a:solidFill>
            <a:srgbClr val="102b42"/>
          </a:solidFill>
          <a:ln w="0">
            <a:solidFill>
              <a:srgbClr val="29445a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1900" spc="-1" strike="noStrike">
                <a:solidFill>
                  <a:srgbClr val="f8fafc"/>
                </a:solidFill>
                <a:latin typeface="Aptos"/>
              </a:rPr>
              <a:t>Need SMILES randomization, matched budgets, CV baselines, and pooling/position ablations.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"/>
          <p:cNvSpPr/>
          <p:nvPr/>
        </p:nvSpPr>
        <p:spPr>
          <a:xfrm>
            <a:off x="0" y="0"/>
            <a:ext cx="11988000" cy="67320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324000" y="223200"/>
            <a:ext cx="11340000" cy="3528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800" spc="-1" strike="noStrike">
                <a:solidFill>
                  <a:srgbClr val="f8fafc"/>
                </a:solidFill>
                <a:latin typeface="Aptos"/>
              </a:rPr>
              <a:t>Limitations And Exact Gaps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338400" y="576000"/>
            <a:ext cx="7560000" cy="2448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8ea6ba"/>
                </a:solidFill>
                <a:latin typeface="Aptos"/>
              </a:rPr>
              <a:t>Drawbacks stated plainly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324000" y="864000"/>
            <a:ext cx="11340000" cy="162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28800" bIns="-28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468000" y="1260000"/>
            <a:ext cx="10440000" cy="34920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Tg test set has n=6, so clean-MAE comparisons are anecdotal.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Scaffold split is confounded: train/val/test mean Tg = 330.7/384.5/463.2 K; mean token length = 22.6/43.5/56.7.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Validity-conditioned drift is a survivorship filter; validity rates differ by family.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Attack budgets are not matched, and max drift scales with candidate count.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No ab initio, synthesis, or experimental validation confirms adversarial candidates preserve the true property.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000" spc="-1" strike="noStrike">
                <a:solidFill>
                  <a:srgbClr val="f8fafc"/>
                </a:solidFill>
                <a:latin typeface="Aptos"/>
              </a:rPr>
              <a:t>No implemented representation-level attack yet; SMILES randomization is the missing control.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"/>
          <p:cNvSpPr/>
          <p:nvPr/>
        </p:nvSpPr>
        <p:spPr>
          <a:xfrm>
            <a:off x="0" y="0"/>
            <a:ext cx="11988000" cy="67320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324000" y="223200"/>
            <a:ext cx="11340000" cy="3528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800" spc="-1" strike="noStrike">
                <a:solidFill>
                  <a:srgbClr val="f8fafc"/>
                </a:solidFill>
                <a:latin typeface="Aptos"/>
              </a:rPr>
              <a:t>Novelty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>
            <a:off x="338400" y="576000"/>
            <a:ext cx="7560000" cy="2448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8ea6ba"/>
                </a:solidFill>
                <a:latin typeface="Aptos"/>
              </a:rPr>
              <a:t>What is actually new and defensible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324000" y="864000"/>
            <a:ext cx="11340000" cy="162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28800" bIns="-28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468000" y="1296000"/>
            <a:ext cx="10512000" cy="35280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A forensic audit that separates model instability from a false length-change mechanism.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Direct architectural diagnosis tying drift to learned positional embeddings, masked mean pooling, and small-data training.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Chemical-severity audit showing why attack-family comparisons were not controlled experiments.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Replication across five seeds showing Phase 1F's causal story does not hold.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• </a:t>
            </a:r>
            <a:r>
              <a:rPr b="0" lang="en-US" sz="2100" spc="-1" strike="noStrike">
                <a:solidFill>
                  <a:srgbClr val="f8fafc"/>
                </a:solidFill>
                <a:latin typeface="Aptos"/>
              </a:rPr>
              <a:t>A revised research program: representation-level SMILES randomization before bigger attacks or new architectures.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"/>
          <p:cNvSpPr/>
          <p:nvPr/>
        </p:nvSpPr>
        <p:spPr>
          <a:xfrm>
            <a:off x="0" y="0"/>
            <a:ext cx="11988000" cy="67320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324000" y="223200"/>
            <a:ext cx="11340000" cy="3528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800" spc="-1" strike="noStrike">
                <a:solidFill>
                  <a:srgbClr val="f8fafc"/>
                </a:solidFill>
                <a:latin typeface="Aptos"/>
              </a:rPr>
              <a:t>Next Slide / Next Work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338400" y="576000"/>
            <a:ext cx="7560000" cy="2448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8ea6ba"/>
                </a:solidFill>
                <a:latin typeface="Aptos"/>
              </a:rPr>
              <a:t>Use this as the closing action slide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324000" y="864000"/>
            <a:ext cx="11340000" cy="162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28800" bIns="-28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576000" y="1224000"/>
            <a:ext cx="900000" cy="450000"/>
          </a:xfrm>
          <a:prstGeom prst="rect">
            <a:avLst/>
          </a:prstGeom>
          <a:solidFill>
            <a:srgbClr val="22c55e"/>
          </a:solidFill>
          <a:ln w="0">
            <a:solidFill>
              <a:srgbClr val="22c55e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2800" spc="-1" strike="noStrike">
                <a:solidFill>
                  <a:srgbClr val="061019"/>
                </a:solidFill>
                <a:latin typeface="Aptos"/>
              </a:rPr>
              <a:t>1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1620000" y="1224000"/>
            <a:ext cx="9360000" cy="450000"/>
          </a:xfrm>
          <a:prstGeom prst="rect">
            <a:avLst/>
          </a:prstGeom>
          <a:solidFill>
            <a:srgbClr val="102b42"/>
          </a:solidFill>
          <a:ln w="0">
            <a:solidFill>
              <a:srgbClr val="29445a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100" spc="-1" strike="noStrike">
                <a:solidFill>
                  <a:srgbClr val="f8fafc"/>
                </a:solidFill>
                <a:latin typeface="Aptos"/>
              </a:rPr>
              <a:t>SMILES-randomization invariance test: same molecule, provably same label.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>
            <a:off x="576000" y="1962000"/>
            <a:ext cx="900000" cy="450000"/>
          </a:xfrm>
          <a:prstGeom prst="rect">
            <a:avLst/>
          </a:prstGeom>
          <a:solidFill>
            <a:srgbClr val="38bdf8"/>
          </a:solidFill>
          <a:ln w="0">
            <a:solidFill>
              <a:srgbClr val="38bdf8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2800" spc="-1" strike="noStrike">
                <a:solidFill>
                  <a:srgbClr val="061019"/>
                </a:solidFill>
                <a:latin typeface="Aptos"/>
              </a:rPr>
              <a:t>2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1620000" y="1962000"/>
            <a:ext cx="9360000" cy="450000"/>
          </a:xfrm>
          <a:prstGeom prst="rect">
            <a:avLst/>
          </a:prstGeom>
          <a:solidFill>
            <a:srgbClr val="102b42"/>
          </a:solidFill>
          <a:ln w="0">
            <a:solidFill>
              <a:srgbClr val="29445a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100" spc="-1" strike="noStrike">
                <a:solidFill>
                  <a:srgbClr val="f8fafc"/>
                </a:solidFill>
                <a:latin typeface="Aptos"/>
              </a:rPr>
              <a:t>Positional-encoding ablation across 5 seeds.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576000" y="2700000"/>
            <a:ext cx="900000" cy="4500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2800" spc="-1" strike="noStrike">
                <a:solidFill>
                  <a:srgbClr val="061019"/>
                </a:solidFill>
                <a:latin typeface="Aptos"/>
              </a:rPr>
              <a:t>3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1620000" y="2700000"/>
            <a:ext cx="9360000" cy="450000"/>
          </a:xfrm>
          <a:prstGeom prst="rect">
            <a:avLst/>
          </a:prstGeom>
          <a:solidFill>
            <a:srgbClr val="102b42"/>
          </a:solidFill>
          <a:ln w="0">
            <a:solidFill>
              <a:srgbClr val="29445a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100" spc="-1" strike="noStrike">
                <a:solidFill>
                  <a:srgbClr val="f8fafc"/>
                </a:solidFill>
                <a:latin typeface="Aptos"/>
              </a:rPr>
              <a:t>k-fold scaffold CV: length-only, bag-of-tokens, Transformer.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576000" y="3438000"/>
            <a:ext cx="900000" cy="4500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2800" spc="-1" strike="noStrike">
                <a:solidFill>
                  <a:srgbClr val="061019"/>
                </a:solidFill>
                <a:latin typeface="Aptos"/>
              </a:rPr>
              <a:t>4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1620000" y="3438000"/>
            <a:ext cx="9360000" cy="450000"/>
          </a:xfrm>
          <a:prstGeom prst="rect">
            <a:avLst/>
          </a:prstGeom>
          <a:solidFill>
            <a:srgbClr val="102b42"/>
          </a:solidFill>
          <a:ln w="0">
            <a:solidFill>
              <a:srgbClr val="29445a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100" spc="-1" strike="noStrike">
                <a:solidFill>
                  <a:srgbClr val="f8fafc"/>
                </a:solidFill>
                <a:latin typeface="Aptos"/>
              </a:rPr>
              <a:t>Budget-matched attacks with median drift, validity rate, and no-op counts.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576000" y="4176000"/>
            <a:ext cx="900000" cy="450000"/>
          </a:xfrm>
          <a:prstGeom prst="rect">
            <a:avLst/>
          </a:prstGeom>
          <a:solidFill>
            <a:srgbClr val="ef4444"/>
          </a:solidFill>
          <a:ln w="0">
            <a:solidFill>
              <a:srgbClr val="ef4444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2800" spc="-1" strike="noStrike">
                <a:solidFill>
                  <a:srgbClr val="061019"/>
                </a:solidFill>
                <a:latin typeface="Aptos"/>
              </a:rPr>
              <a:t>5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1620000" y="4176000"/>
            <a:ext cx="9360000" cy="450000"/>
          </a:xfrm>
          <a:prstGeom prst="rect">
            <a:avLst/>
          </a:prstGeom>
          <a:solidFill>
            <a:srgbClr val="102b42"/>
          </a:solidFill>
          <a:ln w="0">
            <a:solidFill>
              <a:srgbClr val="29445a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100" spc="-1" strike="noStrike">
                <a:solidFill>
                  <a:srgbClr val="f8fafc"/>
                </a:solidFill>
                <a:latin typeface="Aptos"/>
              </a:rPr>
              <a:t>Only then consider graph models, MCMC, or broader defenses.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"/>
          <p:cNvSpPr/>
          <p:nvPr/>
        </p:nvSpPr>
        <p:spPr>
          <a:xfrm>
            <a:off x="0" y="0"/>
            <a:ext cx="11988000" cy="67320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324000" y="223200"/>
            <a:ext cx="11340000" cy="3528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1" lang="en-US" sz="2800" spc="-1" strike="noStrike">
                <a:solidFill>
                  <a:srgbClr val="f8fafc"/>
                </a:solidFill>
                <a:latin typeface="Aptos"/>
              </a:rPr>
              <a:t>Takeaway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338400" y="576000"/>
            <a:ext cx="7560000" cy="2448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</a:ln>
        </p:spPr>
        <p:txBody>
          <a:bodyPr lIns="162000" rIns="162000" tIns="108000" bIns="90000" anchor="t" anchorCtr="1">
            <a:noAutofit/>
          </a:bodyPr>
          <a:p>
            <a:r>
              <a:rPr b="0" lang="en-US" sz="1500" spc="-1" strike="noStrike">
                <a:solidFill>
                  <a:srgbClr val="8ea6ba"/>
                </a:solidFill>
                <a:latin typeface="Aptos"/>
              </a:rPr>
              <a:t>Best design, honest claims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324000" y="864000"/>
            <a:ext cx="11340000" cy="162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txBody>
          <a:bodyPr lIns="90000" rIns="90000" tIns="-28800" bIns="-28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"/>
          <p:cNvSpPr/>
          <p:nvPr/>
        </p:nvSpPr>
        <p:spPr>
          <a:xfrm>
            <a:off x="864000" y="1800000"/>
            <a:ext cx="10224000" cy="1692000"/>
          </a:xfrm>
          <a:prstGeom prst="rect">
            <a:avLst/>
          </a:prstGeom>
          <a:solidFill>
            <a:srgbClr val="102b42"/>
          </a:solidFill>
          <a:ln w="0">
            <a:solidFill>
              <a:srgbClr val="f59e0b"/>
            </a:solidFill>
          </a:ln>
        </p:spPr>
        <p:txBody>
          <a:bodyPr lIns="162000" rIns="162000" tIns="108000" bIns="90000" anchor="t" anchorCtr="1">
            <a:noAutofit/>
          </a:bodyPr>
          <a:p>
            <a:pPr algn="r"/>
            <a:r>
              <a:rPr b="1" lang="en-US" sz="2500" spc="-1" strike="noStrike">
                <a:solidFill>
                  <a:srgbClr val="f8fafc"/>
                </a:solidFill>
                <a:latin typeface="Aptos"/>
              </a:rPr>
              <a:t>The strongest version of this project is not: 'we proved length-changing attacks break polymer Transformers.'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  <a:p>
            <a:pPr algn="r"/>
            <a:endParaRPr b="0" lang="en-US" sz="25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1" lang="en-US" sz="2500" spc="-1" strike="noStrike">
                <a:solidFill>
                  <a:srgbClr val="f8fafc"/>
                </a:solidFill>
                <a:latin typeface="Aptos"/>
              </a:rPr>
              <a:t>It is: 'we built and audited a materials adversarial framework, found real token-level instability, and showed that several attractive robustness claims collapse unless representation-level invariance, matched attack severity, and small-data baselines are handled first.'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2026-08-20T13:12:36Z</dcterms:created>
  <dc:creator/>
  <dc:description/>
  <dc:language>en-US</dc:language>
  <cp:lastModifiedBy/>
  <dcterms:modified xsi:type="dcterms:W3CDTF">2026-08-20T13:12:39Z</dcterms:modified>
  <cp:revision>1</cp:revision>
  <dc:subject/>
  <dc:title/>
</cp:coreProperties>
</file>